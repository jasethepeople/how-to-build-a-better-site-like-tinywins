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launching the public home for Neversus today. This walkthrough connects stackwright.online to GitHub Pages using Namecheap DNS. You will see every step required for a secure setup. Let us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stackwright.online to be the primary branded home for Neversus. Namecheap remains our DNS authority, while GitHub Pages hosts the repository and handles the certificate. This split gives us full domain ownership with modern hosting. Next, we need to claim that domain on GitHub before touching any DNS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claim your domain on GitHub before changing your DNS records. This prevents domain takeover risks during the setup process. Head into your repository settings, input your custom domain, and save. Complete any verification prompts before moving on to Namecheap. Now we can open the DNS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into Namecheap and navigate straight to the Advanced DNS tab for your domain. Look for the Host Records section to manage your routing. Be sure to delete any conflicting URL redirects or old root records first. Clean records ensure a smooth connection to GitHub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root host directly to GitHub Pages using their four documented IPv4 addresses. Set the host to at and use automatic TTL for each entry. Make sure you add all four IP addresses so traffic balances correctly. After adding them, save your changes and prepare the companion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the www companion record ensures visitors using the subdomain still reach the site. We need a single CNAME record pointing to the GitHub user domain. And we must never append the repository name here. Plus, the apex host uses our A records, so this CNAME is strictly for www. With both records set up, GitHub Pages will automatically handle the redirection.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a custom domain means we have to update how our assets are loaded. We change the Vite base path to a root-relative slash. Without this change, requests for styles and scripts would look for a folder that no longer exists. After updating the config, we commit and push to main. The workflow handles the rest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lock down security, we need to verify that DNS propagation is complete. Namecheap records can take half an hour, while GitHub notes up to twenty-four hours. We run a quick dig command to confirm the A records match the expected GitHub IPs. Once the certificate is ready, we turn on enforce HTTPS in the repository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through a final checklist prevents embarrassing launch errors. We confirm the primary domain loads correctly and the www address redirects as expected. We check that HTTPS is enforced and all assets load without console errors. Always test in a private browsing window to avoid cached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now in place for the public release. Domain ownership remains safely with you at Namecheap. GitHub Pages takes care of the hosting, deployments, and automatic certificate renewals. Neversus now has a permanent, secure home on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657225" y="685800"/>
            <a:ext cx="4646284" cy="132159"/>
          </a:xfrm>
          <a:prstGeom prst="rect">
            <a:avLst/>
          </a:prstGeom>
          <a:noFill/>
          <a:ln/>
        </p:spPr>
        <p:txBody>
          <a:bodyPr wrap="square" lIns="0" tIns="0" rIns="0" bIns="0" rtlCol="0" anchor="t">
            <a:spAutoFit/>
          </a:bodyPr>
          <a:lstStyle/>
          <a:p>
            <a:pPr algn="l" indent="0" marL="0">
              <a:buNone/>
            </a:pPr>
            <a:r>
              <a:rPr lang="en-US" sz="800" b="1" spc="2" kern="0" dirty="0">
                <a:solidFill>
                  <a:srgbClr val="F77F00"/>
                </a:solidFill>
                <a:latin typeface="Arial" pitchFamily="34" charset="0"/>
                <a:ea typeface="Arial" pitchFamily="34" charset="-122"/>
                <a:cs typeface="Arial" pitchFamily="34" charset="-120"/>
              </a:rPr>
              <a:t>NAMECHEAP × GITHUB PAGES</a:t>
            </a:r>
            <a:endParaRPr lang="en-US" sz="800" dirty="0"/>
          </a:p>
        </p:txBody>
      </p:sp>
      <p:sp>
        <p:nvSpPr>
          <p:cNvPr id="5" name="Text 1"/>
          <p:cNvSpPr/>
          <p:nvPr/>
        </p:nvSpPr>
        <p:spPr>
          <a:xfrm>
            <a:off x="657225" y="1017984"/>
            <a:ext cx="4286250" cy="1050131"/>
          </a:xfrm>
          <a:prstGeom prst="rect">
            <a:avLst/>
          </a:prstGeom>
          <a:noFill/>
          <a:ln/>
        </p:spPr>
        <p:txBody>
          <a:bodyPr wrap="square" lIns="0" tIns="0" rIns="0" bIns="0" rtlCol="0" anchor="t">
            <a:spAutoFit/>
          </a:bodyPr>
          <a:lstStyle/>
          <a:p>
            <a:pPr algn="l" indent="0" marL="0">
              <a:lnSpc>
                <a:spcPct val="78400"/>
              </a:lnSpc>
              <a:buNone/>
            </a:pPr>
            <a:r>
              <a:rPr lang="en-US" sz="3900" b="1" spc="-3" kern="0" dirty="0">
                <a:solidFill>
                  <a:srgbClr val="F7F3ED"/>
                </a:solidFill>
                <a:latin typeface="Arial" pitchFamily="34" charset="0"/>
                <a:ea typeface="Arial" pitchFamily="34" charset="-122"/>
                <a:cs typeface="Arial" pitchFamily="34" charset="-120"/>
              </a:rPr>
              <a:t>Connect</a:t>
            </a:r>
            <a:r>
              <a:rPr lang="en-US" sz="3900" b="1" spc="-3" kern="0" dirty="0">
                <a:solidFill>
                  <a:srgbClr val="F7F3ED"/>
                </a:solidFill>
                <a:latin typeface="Arial" pitchFamily="34" charset="0"/>
                <a:ea typeface="Arial" pitchFamily="34" charset="-122"/>
                <a:cs typeface="Arial" pitchFamily="34" charset="-120"/>
              </a:rPr>
              <a:t>
</a:t>
            </a:r>
            <a:r>
              <a:rPr lang="en-US" sz="3900" b="1" spc="-3" kern="0" dirty="0">
                <a:solidFill>
                  <a:srgbClr val="F77F00"/>
                </a:solidFill>
                <a:latin typeface="Arial" pitchFamily="34" charset="0"/>
                <a:ea typeface="Arial" pitchFamily="34" charset="-122"/>
                <a:cs typeface="Arial" pitchFamily="34" charset="-120"/>
              </a:rPr>
              <a:t>stackwright.online</a:t>
            </a:r>
            <a:endParaRPr lang="en-US" sz="3900" dirty="0"/>
          </a:p>
        </p:txBody>
      </p:sp>
      <p:sp>
        <p:nvSpPr>
          <p:cNvPr id="6" name="Text 2"/>
          <p:cNvSpPr/>
          <p:nvPr/>
        </p:nvSpPr>
        <p:spPr>
          <a:xfrm>
            <a:off x="657225" y="2296716"/>
            <a:ext cx="3429000" cy="462893"/>
          </a:xfrm>
          <a:prstGeom prst="rect">
            <a:avLst/>
          </a:prstGeom>
          <a:noFill/>
          <a:ln/>
        </p:spPr>
        <p:txBody>
          <a:bodyPr wrap="square" lIns="0" tIns="0" rIns="0" bIns="0" rtlCol="0" anchor="t">
            <a:spAutoFit/>
          </a:bodyPr>
          <a:lstStyle/>
          <a:p>
            <a:pPr algn="l" indent="0" marL="0">
              <a:lnSpc>
                <a:spcPct val="108000"/>
              </a:lnSpc>
              <a:buNone/>
            </a:pPr>
            <a:r>
              <a:rPr lang="en-US" sz="1250" dirty="0">
                <a:solidFill>
                  <a:srgbClr val="C7D8E0"/>
                </a:solidFill>
                <a:latin typeface="Arial" pitchFamily="34" charset="0"/>
                <a:ea typeface="Arial" pitchFamily="34" charset="-122"/>
                <a:cs typeface="Arial" pitchFamily="34" charset="-120"/>
              </a:rPr>
              <a:t>A precise DNS and deployment walkthrough for the Neversus public launch.</a:t>
            </a:r>
            <a:endParaRPr lang="en-US" sz="1250" dirty="0"/>
          </a:p>
        </p:txBody>
      </p:sp>
      <p:sp>
        <p:nvSpPr>
          <p:cNvPr id="7" name="Text 3"/>
          <p:cNvSpPr/>
          <p:nvPr/>
        </p:nvSpPr>
        <p:spPr>
          <a:xfrm>
            <a:off x="657225" y="3259671"/>
            <a:ext cx="4646284" cy="132159"/>
          </a:xfrm>
          <a:prstGeom prst="rect">
            <a:avLst/>
          </a:prstGeom>
          <a:noFill/>
          <a:ln/>
        </p:spPr>
        <p:txBody>
          <a:bodyPr wrap="square" lIns="0" tIns="0" rIns="0" bIns="0" rtlCol="0" anchor="t">
            <a:spAutoFit/>
          </a:bodyPr>
          <a:lstStyle/>
          <a:p>
            <a:pPr algn="l" indent="0" marL="0">
              <a:buNone/>
            </a:pPr>
            <a:r>
              <a:rPr lang="en-US" sz="800" b="1" spc="1" kern="0" dirty="0">
                <a:solidFill>
                  <a:srgbClr val="C7D8E0"/>
                </a:solidFill>
                <a:latin typeface="Arial" pitchFamily="34" charset="0"/>
                <a:ea typeface="Arial" pitchFamily="34" charset="-122"/>
                <a:cs typeface="Arial" pitchFamily="34" charset="-120"/>
              </a:rPr>
              <a:t>PREPARED FOR JASON CLARK</a:t>
            </a:r>
            <a:endParaRPr lang="en-US" sz="800" dirty="0"/>
          </a:p>
        </p:txBody>
      </p:sp>
      <p:sp>
        <p:nvSpPr>
          <p:cNvPr id="8" name="Shape 4"/>
          <p:cNvSpPr/>
          <p:nvPr/>
        </p:nvSpPr>
        <p:spPr>
          <a:xfrm>
            <a:off x="6330758" y="807244"/>
            <a:ext cx="1785938" cy="1785938"/>
          </a:xfrm>
          <a:prstGeom prst="ellipse">
            <a:avLst/>
          </a:prstGeom>
          <a:solidFill>
            <a:srgbClr val="F77F00"/>
          </a:solidFill>
          <a:ln/>
        </p:spPr>
      </p:sp>
      <p:sp>
        <p:nvSpPr>
          <p:cNvPr id="9" name="Shape 5"/>
          <p:cNvSpPr/>
          <p:nvPr/>
        </p:nvSpPr>
        <p:spPr>
          <a:xfrm>
            <a:off x="6705805" y="1182291"/>
            <a:ext cx="1035844" cy="1035844"/>
          </a:xfrm>
          <a:prstGeom prst="ellipse">
            <a:avLst/>
          </a:prstGeom>
          <a:solidFill>
            <a:srgbClr val="D6E2E9"/>
          </a:solidFill>
          <a:ln/>
        </p:spPr>
      </p:sp>
      <p:sp>
        <p:nvSpPr>
          <p:cNvPr id="10" name="Text 6"/>
          <p:cNvSpPr/>
          <p:nvPr/>
        </p:nvSpPr>
        <p:spPr>
          <a:xfrm>
            <a:off x="6626554" y="1610190"/>
            <a:ext cx="542088" cy="179989"/>
          </a:xfrm>
          <a:prstGeom prst="rect">
            <a:avLst/>
          </a:prstGeom>
          <a:noFill/>
          <a:ln/>
        </p:spPr>
        <p:txBody>
          <a:bodyPr wrap="none" lIns="0" tIns="0" rIns="0" bIns="0" rtlCol="0" anchor="t">
            <a:spAutoFit/>
          </a:bodyPr>
          <a:lstStyle/>
          <a:p>
            <a:pPr algn="ctr" indent="0" marL="0">
              <a:lnSpc>
                <a:spcPct val="84000"/>
              </a:lnSpc>
              <a:buNone/>
            </a:pPr>
            <a:r>
              <a:rPr lang="en-US" sz="1200" b="1" spc="-1" kern="0" dirty="0">
                <a:solidFill>
                  <a:srgbClr val="003049"/>
                </a:solidFill>
                <a:latin typeface="Arial" pitchFamily="34" charset="0"/>
                <a:ea typeface="Arial" pitchFamily="34" charset="-122"/>
                <a:cs typeface="Arial" pitchFamily="34" charset="-120"/>
              </a:rPr>
              <a:t>STACK</a:t>
            </a:r>
            <a:endParaRPr lang="en-US" sz="1200" dirty="0"/>
          </a:p>
        </p:txBody>
      </p:sp>
      <p:sp>
        <p:nvSpPr>
          <p:cNvPr id="11" name="Text 7"/>
          <p:cNvSpPr/>
          <p:nvPr/>
        </p:nvSpPr>
        <p:spPr>
          <a:xfrm>
            <a:off x="7168642" y="1610190"/>
            <a:ext cx="652314" cy="179989"/>
          </a:xfrm>
          <a:prstGeom prst="rect">
            <a:avLst/>
          </a:prstGeom>
          <a:noFill/>
          <a:ln/>
        </p:spPr>
        <p:txBody>
          <a:bodyPr wrap="none" lIns="0" tIns="0" rIns="0" bIns="0" rtlCol="0" anchor="t">
            <a:spAutoFit/>
          </a:bodyPr>
          <a:lstStyle/>
          <a:p>
            <a:pPr algn="ctr" indent="0" marL="0">
              <a:lnSpc>
                <a:spcPct val="84000"/>
              </a:lnSpc>
              <a:buNone/>
            </a:pPr>
            <a:r>
              <a:rPr lang="en-US" sz="1200" b="1" spc="-1" kern="0" dirty="0">
                <a:solidFill>
                  <a:srgbClr val="003049"/>
                </a:solidFill>
                <a:latin typeface="Arial" pitchFamily="34" charset="0"/>
                <a:ea typeface="Arial" pitchFamily="34" charset="-122"/>
                <a:cs typeface="Arial" pitchFamily="34" charset="-120"/>
              </a:rPr>
              <a:t>WRIGHT</a:t>
            </a:r>
            <a:endParaRPr lang="en-US" sz="1200" dirty="0"/>
          </a:p>
        </p:txBody>
      </p:sp>
      <p:sp>
        <p:nvSpPr>
          <p:cNvPr id="12" name="Text 8"/>
          <p:cNvSpPr/>
          <p:nvPr/>
        </p:nvSpPr>
        <p:spPr>
          <a:xfrm>
            <a:off x="6796664" y="4829175"/>
            <a:ext cx="2104448" cy="100013"/>
          </a:xfrm>
          <a:prstGeom prst="rect">
            <a:avLst/>
          </a:prstGeom>
          <a:noFill/>
          <a:ln/>
        </p:spPr>
        <p:txBody>
          <a:bodyPr wrap="square" lIns="0" tIns="0" rIns="0" bIns="0" rtlCol="0" anchor="t">
            <a:spAutoFit/>
          </a:bodyPr>
          <a:lstStyle/>
          <a:p>
            <a:pPr algn="l" indent="0" marL="0">
              <a:buNone/>
            </a:pPr>
            <a:r>
              <a:rPr lang="en-US" sz="600" spc="1" kern="0" dirty="0">
                <a:solidFill>
                  <a:srgbClr val="D6E2E9">
                    <a:alpha val="55000"/>
                  </a:srgbClr>
                </a:solidFill>
                <a:latin typeface="Arial" pitchFamily="34" charset="0"/>
                <a:ea typeface="Arial" pitchFamily="34" charset="-122"/>
                <a:cs typeface="Arial" pitchFamily="34" charset="-120"/>
              </a:rPr>
              <a:t>CUSTOM DOMAIN CONFIGURATION · 2026</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28638" y="414338"/>
            <a:ext cx="414338" cy="414338"/>
          </a:xfrm>
          <a:prstGeom prst="ellipse">
            <a:avLst/>
          </a:prstGeom>
          <a:solidFill>
            <a:srgbClr val="F77F00"/>
          </a:solidFill>
          <a:ln/>
        </p:spPr>
      </p:sp>
      <p:sp>
        <p:nvSpPr>
          <p:cNvPr id="5" name="Text 1"/>
          <p:cNvSpPr/>
          <p:nvPr/>
        </p:nvSpPr>
        <p:spPr>
          <a:xfrm>
            <a:off x="528638" y="414338"/>
            <a:ext cx="414338" cy="414338"/>
          </a:xfrm>
          <a:prstGeom prst="rect">
            <a:avLst/>
          </a:prstGeom>
          <a:noFill/>
          <a:ln/>
        </p:spPr>
        <p:txBody>
          <a:bodyPr wrap="none" lIns="0" tIns="0" rIns="0" bIns="0" rtlCol="0" anchor="ctr">
            <a:spAutoFit/>
          </a:bodyPr>
          <a:lstStyle/>
          <a:p>
            <a:pPr algn="ctr" indent="0" marL="0">
              <a:buNone/>
            </a:pPr>
            <a:r>
              <a:rPr lang="en-US" sz="1200" b="1" dirty="0">
                <a:solidFill>
                  <a:srgbClr val="003049"/>
                </a:solidFill>
                <a:latin typeface="Arial" pitchFamily="34" charset="0"/>
                <a:ea typeface="Arial" pitchFamily="34" charset="-122"/>
                <a:cs typeface="Arial" pitchFamily="34" charset="-120"/>
              </a:rPr>
              <a:t>01</a:t>
            </a:r>
            <a:endParaRPr lang="en-US" sz="1200" dirty="0"/>
          </a:p>
        </p:txBody>
      </p:sp>
      <p:sp>
        <p:nvSpPr>
          <p:cNvPr id="6" name="Text 2"/>
          <p:cNvSpPr/>
          <p:nvPr/>
        </p:nvSpPr>
        <p:spPr>
          <a:xfrm>
            <a:off x="1114425" y="453628"/>
            <a:ext cx="2271545" cy="335756"/>
          </a:xfrm>
          <a:prstGeom prst="rect">
            <a:avLst/>
          </a:prstGeom>
          <a:noFill/>
          <a:ln/>
        </p:spPr>
        <p:txBody>
          <a:bodyPr wrap="none" lIns="0" tIns="0" rIns="0" bIns="0" rtlCol="0" anchor="t">
            <a:spAutoFit/>
          </a:bodyPr>
          <a:lstStyle/>
          <a:p>
            <a:pPr algn="l" indent="0" marL="0">
              <a:lnSpc>
                <a:spcPct val="80000"/>
              </a:lnSpc>
              <a:buNone/>
            </a:pPr>
            <a:r>
              <a:rPr lang="en-US" sz="2400" b="1" spc="-2" kern="0" dirty="0">
                <a:solidFill>
                  <a:srgbClr val="003049"/>
                </a:solidFill>
                <a:latin typeface="Arial" pitchFamily="34" charset="0"/>
                <a:ea typeface="Arial" pitchFamily="34" charset="-122"/>
                <a:cs typeface="Arial" pitchFamily="34" charset="-120"/>
              </a:rPr>
              <a:t>The target state</a:t>
            </a:r>
            <a:endParaRPr lang="en-US" sz="2400" dirty="0"/>
          </a:p>
        </p:txBody>
      </p:sp>
      <p:sp>
        <p:nvSpPr>
          <p:cNvPr id="7" name="Text 3"/>
          <p:cNvSpPr/>
          <p:nvPr/>
        </p:nvSpPr>
        <p:spPr>
          <a:xfrm>
            <a:off x="1114425" y="928688"/>
            <a:ext cx="7500938" cy="160734"/>
          </a:xfrm>
          <a:prstGeom prst="rect">
            <a:avLst/>
          </a:prstGeom>
          <a:noFill/>
          <a:ln/>
        </p:spPr>
        <p:txBody>
          <a:bodyPr wrap="square" lIns="0" tIns="0" rIns="0" bIns="0" rtlCol="0" anchor="t">
            <a:spAutoFit/>
          </a:bodyPr>
          <a:lstStyle/>
          <a:p>
            <a:pPr algn="l" indent="0" marL="0">
              <a:buNone/>
            </a:pPr>
            <a:r>
              <a:rPr lang="en-US" sz="1050" dirty="0">
                <a:solidFill>
                  <a:srgbClr val="42515A"/>
                </a:solidFill>
                <a:latin typeface="Arial" pitchFamily="34" charset="0"/>
                <a:ea typeface="Arial" pitchFamily="34" charset="-122"/>
                <a:cs typeface="Arial" pitchFamily="34" charset="-120"/>
              </a:rPr>
              <a:t>One branded, secure home for Neversus—owned at Namecheap and served from GitHub Pages.</a:t>
            </a:r>
            <a:endParaRPr lang="en-US" sz="1050" dirty="0"/>
          </a:p>
        </p:txBody>
      </p:sp>
      <p:sp>
        <p:nvSpPr>
          <p:cNvPr id="8" name="Shape 4"/>
          <p:cNvSpPr/>
          <p:nvPr/>
        </p:nvSpPr>
        <p:spPr>
          <a:xfrm>
            <a:off x="657225" y="1696641"/>
            <a:ext cx="842963" cy="842963"/>
          </a:xfrm>
          <a:prstGeom prst="ellipse">
            <a:avLst/>
          </a:prstGeom>
          <a:solidFill>
            <a:srgbClr val="F77F00"/>
          </a:solidFill>
          <a:ln/>
        </p:spPr>
      </p:sp>
      <p:sp>
        <p:nvSpPr>
          <p:cNvPr id="9" name="Text 5"/>
          <p:cNvSpPr/>
          <p:nvPr/>
        </p:nvSpPr>
        <p:spPr>
          <a:xfrm>
            <a:off x="657225" y="1696641"/>
            <a:ext cx="842963" cy="842963"/>
          </a:xfrm>
          <a:prstGeom prst="rect">
            <a:avLst/>
          </a:prstGeom>
          <a:noFill/>
          <a:ln/>
        </p:spPr>
        <p:txBody>
          <a:bodyPr wrap="none" lIns="0" tIns="0" rIns="0" bIns="0" rtlCol="0" anchor="ctr">
            <a:spAutoFit/>
          </a:bodyPr>
          <a:lstStyle/>
          <a:p>
            <a:pPr algn="ctr" indent="0" marL="0">
              <a:buNone/>
            </a:pPr>
            <a:r>
              <a:rPr lang="en-US" sz="1550" b="1" spc="-1" kern="0" dirty="0">
                <a:solidFill>
                  <a:srgbClr val="003049"/>
                </a:solidFill>
                <a:latin typeface="Arial" pitchFamily="34" charset="0"/>
                <a:ea typeface="Arial" pitchFamily="34" charset="-122"/>
                <a:cs typeface="Arial" pitchFamily="34" charset="-120"/>
              </a:rPr>
              <a:t>@</a:t>
            </a:r>
            <a:endParaRPr lang="en-US" sz="1550" dirty="0"/>
          </a:p>
        </p:txBody>
      </p:sp>
      <p:sp>
        <p:nvSpPr>
          <p:cNvPr id="10" name="Text 6"/>
          <p:cNvSpPr/>
          <p:nvPr/>
        </p:nvSpPr>
        <p:spPr>
          <a:xfrm>
            <a:off x="657225" y="2725341"/>
            <a:ext cx="1465083" cy="207169"/>
          </a:xfrm>
          <a:prstGeom prst="rect">
            <a:avLst/>
          </a:prstGeom>
          <a:noFill/>
          <a:ln/>
        </p:spPr>
        <p:txBody>
          <a:bodyPr wrap="square" lIns="0" tIns="0" rIns="0" bIns="0" rtlCol="0" anchor="t">
            <a:spAutoFit/>
          </a:bodyPr>
          <a:lstStyle/>
          <a:p>
            <a:pPr algn="l" indent="0" marL="0">
              <a:buNone/>
            </a:pPr>
            <a:r>
              <a:rPr lang="en-US" sz="1250" b="1" spc="-1" kern="0" dirty="0">
                <a:solidFill>
                  <a:srgbClr val="003049"/>
                </a:solidFill>
                <a:latin typeface="Arial" pitchFamily="34" charset="0"/>
                <a:ea typeface="Arial" pitchFamily="34" charset="-122"/>
                <a:cs typeface="Arial" pitchFamily="34" charset="-120"/>
              </a:rPr>
              <a:t>stackwright.online</a:t>
            </a:r>
            <a:endParaRPr lang="en-US" sz="1250" dirty="0"/>
          </a:p>
        </p:txBody>
      </p:sp>
      <p:sp>
        <p:nvSpPr>
          <p:cNvPr id="11" name="Text 7"/>
          <p:cNvSpPr/>
          <p:nvPr/>
        </p:nvSpPr>
        <p:spPr>
          <a:xfrm>
            <a:off x="657225" y="3003947"/>
            <a:ext cx="1785938" cy="509997"/>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42515A"/>
                </a:solidFill>
                <a:latin typeface="Arial" pitchFamily="34" charset="0"/>
                <a:ea typeface="Arial" pitchFamily="34" charset="-122"/>
                <a:cs typeface="Arial" pitchFamily="34" charset="-120"/>
              </a:rPr>
              <a:t>Primary public address and the custom domain entered in GitHub Pages.</a:t>
            </a:r>
            <a:endParaRPr lang="en-US" sz="900" dirty="0"/>
          </a:p>
        </p:txBody>
      </p:sp>
      <p:sp>
        <p:nvSpPr>
          <p:cNvPr id="12" name="Shape 8"/>
          <p:cNvSpPr/>
          <p:nvPr/>
        </p:nvSpPr>
        <p:spPr>
          <a:xfrm>
            <a:off x="2695538" y="2598148"/>
            <a:ext cx="857250" cy="14288"/>
          </a:xfrm>
          <a:prstGeom prst="rect">
            <a:avLst/>
          </a:prstGeom>
          <a:solidFill>
            <a:srgbClr val="7F9AA8"/>
          </a:solidFill>
          <a:ln/>
        </p:spPr>
      </p:sp>
      <p:sp>
        <p:nvSpPr>
          <p:cNvPr id="13" name="Shape 9"/>
          <p:cNvSpPr/>
          <p:nvPr/>
        </p:nvSpPr>
        <p:spPr>
          <a:xfrm>
            <a:off x="3467063" y="2562430"/>
            <a:ext cx="85725" cy="85725"/>
          </a:xfrm>
          <a:prstGeom prst="ellipse">
            <a:avLst/>
          </a:prstGeom>
          <a:solidFill>
            <a:srgbClr val="F77F00"/>
          </a:solidFill>
          <a:ln/>
        </p:spPr>
      </p:sp>
      <p:sp>
        <p:nvSpPr>
          <p:cNvPr id="14" name="Shape 10"/>
          <p:cNvSpPr/>
          <p:nvPr/>
        </p:nvSpPr>
        <p:spPr>
          <a:xfrm>
            <a:off x="3552788" y="1696641"/>
            <a:ext cx="842963" cy="842963"/>
          </a:xfrm>
          <a:prstGeom prst="ellipse">
            <a:avLst/>
          </a:prstGeom>
          <a:solidFill>
            <a:srgbClr val="EEF4F6"/>
          </a:solidFill>
          <a:ln w="18288">
            <a:solidFill>
              <a:srgbClr val="003049"/>
            </a:solidFill>
            <a:prstDash val="solid"/>
          </a:ln>
        </p:spPr>
      </p:sp>
      <p:sp>
        <p:nvSpPr>
          <p:cNvPr id="15" name="Text 11"/>
          <p:cNvSpPr/>
          <p:nvPr/>
        </p:nvSpPr>
        <p:spPr>
          <a:xfrm>
            <a:off x="3552788" y="1696641"/>
            <a:ext cx="842963" cy="842963"/>
          </a:xfrm>
          <a:prstGeom prst="rect">
            <a:avLst/>
          </a:prstGeom>
          <a:noFill/>
          <a:ln/>
        </p:spPr>
        <p:txBody>
          <a:bodyPr wrap="square" lIns="0" tIns="0" rIns="0" bIns="0" rtlCol="0" anchor="ctr">
            <a:spAutoFit/>
          </a:bodyPr>
          <a:lstStyle/>
          <a:p>
            <a:pPr algn="ctr" indent="0" marL="0">
              <a:lnSpc>
                <a:spcPct val="81600"/>
              </a:lnSpc>
              <a:buNone/>
            </a:pPr>
            <a:r>
              <a:rPr lang="en-US" sz="1250" b="1" spc="-1" kern="0" dirty="0">
                <a:solidFill>
                  <a:srgbClr val="003049"/>
                </a:solidFill>
                <a:latin typeface="Arial" pitchFamily="34" charset="0"/>
                <a:ea typeface="Arial" pitchFamily="34" charset="-122"/>
                <a:cs typeface="Arial" pitchFamily="34" charset="-120"/>
              </a:rPr>
              <a:t>www</a:t>
            </a:r>
            <a:endParaRPr lang="en-US" sz="1250" dirty="0"/>
          </a:p>
        </p:txBody>
      </p:sp>
      <p:sp>
        <p:nvSpPr>
          <p:cNvPr id="16" name="Text 12"/>
          <p:cNvSpPr/>
          <p:nvPr/>
        </p:nvSpPr>
        <p:spPr>
          <a:xfrm>
            <a:off x="3552788" y="2725341"/>
            <a:ext cx="1901968" cy="207169"/>
          </a:xfrm>
          <a:prstGeom prst="rect">
            <a:avLst/>
          </a:prstGeom>
          <a:noFill/>
          <a:ln/>
        </p:spPr>
        <p:txBody>
          <a:bodyPr wrap="square" lIns="0" tIns="0" rIns="0" bIns="0" rtlCol="0" anchor="t">
            <a:spAutoFit/>
          </a:bodyPr>
          <a:lstStyle/>
          <a:p>
            <a:pPr algn="l" indent="0" marL="0">
              <a:buNone/>
            </a:pPr>
            <a:r>
              <a:rPr lang="en-US" sz="1250" b="1" spc="-1" kern="0" dirty="0">
                <a:solidFill>
                  <a:srgbClr val="003049"/>
                </a:solidFill>
                <a:latin typeface="Arial" pitchFamily="34" charset="0"/>
                <a:ea typeface="Arial" pitchFamily="34" charset="-122"/>
                <a:cs typeface="Arial" pitchFamily="34" charset="-120"/>
              </a:rPr>
              <a:t>www.stackwright.online</a:t>
            </a:r>
            <a:endParaRPr lang="en-US" sz="1250" dirty="0"/>
          </a:p>
        </p:txBody>
      </p:sp>
      <p:sp>
        <p:nvSpPr>
          <p:cNvPr id="17" name="Text 13"/>
          <p:cNvSpPr/>
          <p:nvPr/>
        </p:nvSpPr>
        <p:spPr>
          <a:xfrm>
            <a:off x="3552788" y="3003947"/>
            <a:ext cx="1785938" cy="509997"/>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42515A"/>
                </a:solidFill>
                <a:latin typeface="Arial" pitchFamily="34" charset="0"/>
                <a:ea typeface="Arial" pitchFamily="34" charset="-122"/>
                <a:cs typeface="Arial" pitchFamily="34" charset="-120"/>
              </a:rPr>
              <a:t>Companion address that redirects cleanly to the selected primary domain.</a:t>
            </a:r>
            <a:endParaRPr lang="en-US" sz="900" dirty="0"/>
          </a:p>
        </p:txBody>
      </p:sp>
      <p:sp>
        <p:nvSpPr>
          <p:cNvPr id="18" name="Shape 14"/>
          <p:cNvSpPr/>
          <p:nvPr/>
        </p:nvSpPr>
        <p:spPr>
          <a:xfrm>
            <a:off x="5591156" y="2598148"/>
            <a:ext cx="857250" cy="14288"/>
          </a:xfrm>
          <a:prstGeom prst="rect">
            <a:avLst/>
          </a:prstGeom>
          <a:solidFill>
            <a:srgbClr val="7F9AA8"/>
          </a:solidFill>
          <a:ln/>
        </p:spPr>
      </p:sp>
      <p:sp>
        <p:nvSpPr>
          <p:cNvPr id="19" name="Shape 15"/>
          <p:cNvSpPr/>
          <p:nvPr/>
        </p:nvSpPr>
        <p:spPr>
          <a:xfrm>
            <a:off x="6362681" y="2562430"/>
            <a:ext cx="85725" cy="85725"/>
          </a:xfrm>
          <a:prstGeom prst="ellipse">
            <a:avLst/>
          </a:prstGeom>
          <a:solidFill>
            <a:srgbClr val="F77F00"/>
          </a:solidFill>
          <a:ln/>
        </p:spPr>
      </p:sp>
      <p:sp>
        <p:nvSpPr>
          <p:cNvPr id="20" name="Shape 16"/>
          <p:cNvSpPr/>
          <p:nvPr/>
        </p:nvSpPr>
        <p:spPr>
          <a:xfrm>
            <a:off x="6448406" y="1696641"/>
            <a:ext cx="842963" cy="842963"/>
          </a:xfrm>
          <a:prstGeom prst="ellipse">
            <a:avLst/>
          </a:prstGeom>
          <a:solidFill>
            <a:srgbClr val="003049"/>
          </a:solidFill>
          <a:ln/>
        </p:spPr>
      </p:sp>
      <p:sp>
        <p:nvSpPr>
          <p:cNvPr id="21" name="Text 17"/>
          <p:cNvSpPr/>
          <p:nvPr/>
        </p:nvSpPr>
        <p:spPr>
          <a:xfrm>
            <a:off x="6448406" y="1696641"/>
            <a:ext cx="842963" cy="842963"/>
          </a:xfrm>
          <a:prstGeom prst="rect">
            <a:avLst/>
          </a:prstGeom>
          <a:noFill/>
          <a:ln/>
        </p:spPr>
        <p:txBody>
          <a:bodyPr wrap="none" lIns="0" tIns="0" rIns="0" bIns="0" rtlCol="0" anchor="ctr">
            <a:spAutoFit/>
          </a:bodyPr>
          <a:lstStyle/>
          <a:p>
            <a:pPr algn="ctr" indent="0" marL="0">
              <a:buNone/>
            </a:pPr>
            <a:r>
              <a:rPr lang="en-US" sz="1550" b="1" spc="-1" kern="0" dirty="0">
                <a:solidFill>
                  <a:srgbClr val="F7F3ED"/>
                </a:solidFill>
                <a:latin typeface="Arial" pitchFamily="34" charset="0"/>
                <a:ea typeface="Arial" pitchFamily="34" charset="-122"/>
                <a:cs typeface="Arial" pitchFamily="34" charset="-120"/>
              </a:rPr>
              <a:t>GH</a:t>
            </a:r>
            <a:endParaRPr lang="en-US" sz="1550" dirty="0"/>
          </a:p>
        </p:txBody>
      </p:sp>
      <p:sp>
        <p:nvSpPr>
          <p:cNvPr id="22" name="Text 18"/>
          <p:cNvSpPr/>
          <p:nvPr/>
        </p:nvSpPr>
        <p:spPr>
          <a:xfrm>
            <a:off x="6448406" y="2725341"/>
            <a:ext cx="1102426" cy="207169"/>
          </a:xfrm>
          <a:prstGeom prst="rect">
            <a:avLst/>
          </a:prstGeom>
          <a:noFill/>
          <a:ln/>
        </p:spPr>
        <p:txBody>
          <a:bodyPr wrap="none" lIns="0" tIns="0" rIns="0" bIns="0" rtlCol="0" anchor="t">
            <a:spAutoFit/>
          </a:bodyPr>
          <a:lstStyle/>
          <a:p>
            <a:pPr algn="l" indent="0" marL="0">
              <a:buNone/>
            </a:pPr>
            <a:r>
              <a:rPr lang="en-US" sz="1250" b="1" spc="-1" kern="0" dirty="0">
                <a:solidFill>
                  <a:srgbClr val="003049"/>
                </a:solidFill>
                <a:latin typeface="Arial" pitchFamily="34" charset="0"/>
                <a:ea typeface="Arial" pitchFamily="34" charset="-122"/>
                <a:cs typeface="Arial" pitchFamily="34" charset="-120"/>
              </a:rPr>
              <a:t>GitHub Pages</a:t>
            </a:r>
            <a:endParaRPr lang="en-US" sz="1250" dirty="0"/>
          </a:p>
        </p:txBody>
      </p:sp>
      <p:sp>
        <p:nvSpPr>
          <p:cNvPr id="23" name="Text 19"/>
          <p:cNvSpPr/>
          <p:nvPr/>
        </p:nvSpPr>
        <p:spPr>
          <a:xfrm>
            <a:off x="6448406" y="3003947"/>
            <a:ext cx="1785938" cy="509997"/>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42515A"/>
                </a:solidFill>
                <a:latin typeface="Arial" pitchFamily="34" charset="0"/>
                <a:ea typeface="Arial" pitchFamily="34" charset="-122"/>
                <a:cs typeface="Arial" pitchFamily="34" charset="-120"/>
              </a:rPr>
              <a:t>Hosts the deployed site from the Neversus repository and manages the certificate.</a:t>
            </a:r>
            <a:endParaRPr lang="en-US" sz="900" dirty="0"/>
          </a:p>
        </p:txBody>
      </p:sp>
      <p:sp>
        <p:nvSpPr>
          <p:cNvPr id="24" name="Text 20"/>
          <p:cNvSpPr/>
          <p:nvPr/>
        </p:nvSpPr>
        <p:spPr>
          <a:xfrm>
            <a:off x="1114425" y="4185456"/>
            <a:ext cx="7500938" cy="160009"/>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42515A"/>
                </a:solidFill>
                <a:latin typeface="Arial" pitchFamily="34" charset="0"/>
                <a:ea typeface="Arial" pitchFamily="34" charset="-122"/>
                <a:cs typeface="Arial" pitchFamily="34" charset="-120"/>
              </a:rPr>
              <a:t>Namecheap</a:t>
            </a:r>
            <a:r>
              <a:rPr lang="en-US" sz="850" dirty="0">
                <a:solidFill>
                  <a:srgbClr val="42515A"/>
                </a:solidFill>
                <a:latin typeface="Arial" pitchFamily="34" charset="0"/>
                <a:ea typeface="Arial" pitchFamily="34" charset="-122"/>
                <a:cs typeface="Arial" pitchFamily="34" charset="-120"/>
              </a:rPr>
              <a:t> remains the DNS authority; </a:t>
            </a:r>
            <a:r>
              <a:rPr lang="en-US" sz="800" b="1" dirty="0">
                <a:solidFill>
                  <a:srgbClr val="42515A"/>
                </a:solidFill>
                <a:latin typeface="Arial" pitchFamily="34" charset="0"/>
                <a:ea typeface="Arial" pitchFamily="34" charset="-122"/>
                <a:cs typeface="Arial" pitchFamily="34" charset="-120"/>
              </a:rPr>
              <a:t>GitHub Pages</a:t>
            </a:r>
            <a:r>
              <a:rPr lang="en-US" sz="850" dirty="0">
                <a:solidFill>
                  <a:srgbClr val="42515A"/>
                </a:solidFill>
                <a:latin typeface="Arial" pitchFamily="34" charset="0"/>
                <a:ea typeface="Arial" pitchFamily="34" charset="-122"/>
                <a:cs typeface="Arial" pitchFamily="34" charset="-120"/>
              </a:rPr>
              <a:t> remains the publishing and HTTPS endpoint.</a:t>
            </a:r>
            <a:endParaRPr lang="en-US" sz="800" dirty="0"/>
          </a:p>
        </p:txBody>
      </p:sp>
      <p:sp>
        <p:nvSpPr>
          <p:cNvPr id="25" name="Text 21"/>
          <p:cNvSpPr/>
          <p:nvPr/>
        </p:nvSpPr>
        <p:spPr>
          <a:xfrm>
            <a:off x="1114425" y="4488340"/>
            <a:ext cx="7500938" cy="100013"/>
          </a:xfrm>
          <a:prstGeom prst="rect">
            <a:avLst/>
          </a:prstGeom>
          <a:noFill/>
          <a:ln/>
        </p:spPr>
        <p:txBody>
          <a:bodyPr wrap="square" lIns="0" tIns="0" rIns="0" bIns="0" rtlCol="0" anchor="t">
            <a:spAutoFit/>
          </a:bodyPr>
          <a:lstStyle/>
          <a:p>
            <a:pPr algn="l" indent="0" marL="0">
              <a:buNone/>
            </a:pPr>
            <a:r>
              <a:rPr lang="en-US" sz="600" b="1" dirty="0">
                <a:solidFill>
                  <a:srgbClr val="61757F"/>
                </a:solidFill>
                <a:latin typeface="Arial" pitchFamily="34" charset="0"/>
                <a:ea typeface="Arial" pitchFamily="34" charset="-122"/>
                <a:cs typeface="Arial" pitchFamily="34" charset="-120"/>
              </a:rPr>
              <a:t>[1] GitHub Docs — About custom domains and GitHub Pages</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42925" y="528638"/>
            <a:ext cx="414338" cy="414338"/>
          </a:xfrm>
          <a:prstGeom prst="ellipse">
            <a:avLst/>
          </a:prstGeom>
          <a:solidFill>
            <a:srgbClr val="F77F00"/>
          </a:solidFill>
          <a:ln/>
        </p:spPr>
      </p:sp>
      <p:sp>
        <p:nvSpPr>
          <p:cNvPr id="5" name="Text 1"/>
          <p:cNvSpPr/>
          <p:nvPr/>
        </p:nvSpPr>
        <p:spPr>
          <a:xfrm>
            <a:off x="542925" y="528638"/>
            <a:ext cx="414338" cy="414338"/>
          </a:xfrm>
          <a:prstGeom prst="rect">
            <a:avLst/>
          </a:prstGeom>
          <a:noFill/>
          <a:ln/>
        </p:spPr>
        <p:txBody>
          <a:bodyPr wrap="none" lIns="0" tIns="0" rIns="0" bIns="0" rtlCol="0" anchor="ctr">
            <a:spAutoFit/>
          </a:bodyPr>
          <a:lstStyle/>
          <a:p>
            <a:pPr algn="ctr" indent="0" marL="0">
              <a:buNone/>
            </a:pPr>
            <a:r>
              <a:rPr lang="en-US" sz="1200" b="1" dirty="0">
                <a:solidFill>
                  <a:srgbClr val="003049"/>
                </a:solidFill>
                <a:latin typeface="Arial" pitchFamily="34" charset="0"/>
                <a:ea typeface="Arial" pitchFamily="34" charset="-122"/>
                <a:cs typeface="Arial" pitchFamily="34" charset="-120"/>
              </a:rPr>
              <a:t>02</a:t>
            </a:r>
            <a:endParaRPr lang="en-US" sz="1200" dirty="0"/>
          </a:p>
        </p:txBody>
      </p:sp>
      <p:sp>
        <p:nvSpPr>
          <p:cNvPr id="6" name="Text 2"/>
          <p:cNvSpPr/>
          <p:nvPr/>
        </p:nvSpPr>
        <p:spPr>
          <a:xfrm>
            <a:off x="542925" y="1114425"/>
            <a:ext cx="2286000" cy="714040"/>
          </a:xfrm>
          <a:prstGeom prst="rect">
            <a:avLst/>
          </a:prstGeom>
          <a:noFill/>
          <a:ln/>
        </p:spPr>
        <p:txBody>
          <a:bodyPr wrap="square" lIns="0" tIns="0" rIns="0" bIns="0" rtlCol="0" anchor="t">
            <a:spAutoFit/>
          </a:bodyPr>
          <a:lstStyle/>
          <a:p>
            <a:pPr algn="l" indent="0" marL="0">
              <a:lnSpc>
                <a:spcPct val="78400"/>
              </a:lnSpc>
              <a:buNone/>
            </a:pPr>
            <a:r>
              <a:rPr lang="en-US" sz="2600" b="1" spc="-2" kern="0" dirty="0">
                <a:solidFill>
                  <a:srgbClr val="003049"/>
                </a:solidFill>
                <a:latin typeface="Arial" pitchFamily="34" charset="0"/>
                <a:ea typeface="Arial" pitchFamily="34" charset="-122"/>
                <a:cs typeface="Arial" pitchFamily="34" charset="-120"/>
              </a:rPr>
              <a:t>Configure GitHub first</a:t>
            </a:r>
            <a:endParaRPr lang="en-US" sz="2600" dirty="0"/>
          </a:p>
        </p:txBody>
      </p:sp>
      <p:sp>
        <p:nvSpPr>
          <p:cNvPr id="7" name="Text 3"/>
          <p:cNvSpPr/>
          <p:nvPr/>
        </p:nvSpPr>
        <p:spPr>
          <a:xfrm>
            <a:off x="542925" y="2028490"/>
            <a:ext cx="2071688" cy="590364"/>
          </a:xfrm>
          <a:prstGeom prst="rect">
            <a:avLst/>
          </a:prstGeom>
          <a:noFill/>
          <a:ln/>
        </p:spPr>
        <p:txBody>
          <a:bodyPr wrap="square" lIns="0" tIns="0" rIns="0" bIns="0" rtlCol="0" anchor="t">
            <a:spAutoFit/>
          </a:bodyPr>
          <a:lstStyle/>
          <a:p>
            <a:pPr algn="l" indent="0" marL="0">
              <a:lnSpc>
                <a:spcPct val="116000"/>
              </a:lnSpc>
              <a:buNone/>
            </a:pPr>
            <a:r>
              <a:rPr lang="en-US" sz="1000" dirty="0">
                <a:solidFill>
                  <a:srgbClr val="42515A"/>
                </a:solidFill>
                <a:latin typeface="Arial" pitchFamily="34" charset="0"/>
                <a:ea typeface="Arial" pitchFamily="34" charset="-122"/>
                <a:cs typeface="Arial" pitchFamily="34" charset="-120"/>
              </a:rPr>
              <a:t>Claim the domain at the hosting layer before you redirect public traffic toward it.</a:t>
            </a:r>
            <a:endParaRPr lang="en-US" sz="1000" dirty="0"/>
          </a:p>
        </p:txBody>
      </p:sp>
      <p:sp>
        <p:nvSpPr>
          <p:cNvPr id="8" name="Text 4"/>
          <p:cNvSpPr/>
          <p:nvPr/>
        </p:nvSpPr>
        <p:spPr>
          <a:xfrm>
            <a:off x="542925" y="2818879"/>
            <a:ext cx="2071688" cy="590364"/>
          </a:xfrm>
          <a:prstGeom prst="rect">
            <a:avLst/>
          </a:prstGeom>
          <a:noFill/>
          <a:ln/>
        </p:spPr>
        <p:txBody>
          <a:bodyPr wrap="square" lIns="0" tIns="0" rIns="0" bIns="0" rtlCol="0" anchor="t">
            <a:spAutoFit/>
          </a:bodyPr>
          <a:lstStyle/>
          <a:p>
            <a:pPr algn="l" indent="0" marL="0">
              <a:lnSpc>
                <a:spcPct val="116000"/>
              </a:lnSpc>
              <a:buNone/>
            </a:pPr>
            <a:r>
              <a:rPr lang="en-US" sz="1000" dirty="0">
                <a:solidFill>
                  <a:srgbClr val="42515A"/>
                </a:solidFill>
                <a:latin typeface="Arial" pitchFamily="34" charset="0"/>
                <a:ea typeface="Arial" pitchFamily="34" charset="-122"/>
                <a:cs typeface="Arial" pitchFamily="34" charset="-120"/>
              </a:rPr>
              <a:t>[2] GitHub Docs — Managing a custom domain for your GitHub Pages site</a:t>
            </a:r>
            <a:endParaRPr lang="en-US" sz="1000" dirty="0"/>
          </a:p>
        </p:txBody>
      </p:sp>
      <p:sp>
        <p:nvSpPr>
          <p:cNvPr id="9" name="Text 5"/>
          <p:cNvSpPr/>
          <p:nvPr/>
        </p:nvSpPr>
        <p:spPr>
          <a:xfrm>
            <a:off x="3591855" y="528638"/>
            <a:ext cx="4923439" cy="390004"/>
          </a:xfrm>
          <a:prstGeom prst="rect">
            <a:avLst/>
          </a:prstGeom>
          <a:noFill/>
          <a:ln/>
        </p:spPr>
        <p:txBody>
          <a:bodyPr wrap="square" lIns="0" tIns="0" rIns="0" bIns="0" rtlCol="0" anchor="t">
            <a:spAutoFit/>
          </a:bodyPr>
          <a:lstStyle/>
          <a:p>
            <a:pPr algn="l" indent="0" marL="0">
              <a:lnSpc>
                <a:spcPct val="104000"/>
              </a:lnSpc>
              <a:buNone/>
            </a:pPr>
            <a:r>
              <a:rPr lang="en-US" sz="1050" b="1" dirty="0">
                <a:solidFill>
                  <a:srgbClr val="003049"/>
                </a:solidFill>
                <a:latin typeface="Arial" pitchFamily="34" charset="0"/>
                <a:ea typeface="Arial" pitchFamily="34" charset="-122"/>
                <a:cs typeface="Arial" pitchFamily="34" charset="-120"/>
              </a:rPr>
              <a:t>Use repository settings—not a DNS change—to establish ownership and publishing intent.</a:t>
            </a:r>
            <a:endParaRPr lang="en-US" sz="1050" dirty="0"/>
          </a:p>
        </p:txBody>
      </p:sp>
      <p:sp>
        <p:nvSpPr>
          <p:cNvPr id="10" name="Shape 6"/>
          <p:cNvSpPr/>
          <p:nvPr/>
        </p:nvSpPr>
        <p:spPr>
          <a:xfrm>
            <a:off x="3856174" y="1379413"/>
            <a:ext cx="371475" cy="371475"/>
          </a:xfrm>
          <a:prstGeom prst="ellipse">
            <a:avLst/>
          </a:prstGeom>
          <a:solidFill>
            <a:srgbClr val="003049"/>
          </a:solidFill>
          <a:ln/>
        </p:spPr>
      </p:sp>
      <p:sp>
        <p:nvSpPr>
          <p:cNvPr id="11" name="Text 7"/>
          <p:cNvSpPr/>
          <p:nvPr/>
        </p:nvSpPr>
        <p:spPr>
          <a:xfrm>
            <a:off x="3856174" y="1379413"/>
            <a:ext cx="371475" cy="371475"/>
          </a:xfrm>
          <a:prstGeom prst="rect">
            <a:avLst/>
          </a:prstGeom>
          <a:noFill/>
          <a:ln/>
        </p:spPr>
        <p:txBody>
          <a:bodyPr wrap="none" lIns="0" tIns="0" rIns="0" bIns="0" rtlCol="0" anchor="ctr">
            <a:spAutoFit/>
          </a:bodyPr>
          <a:lstStyle/>
          <a:p>
            <a:pPr algn="ctr" indent="0" marL="0">
              <a:buNone/>
            </a:pPr>
            <a:r>
              <a:rPr lang="en-US" sz="950" b="1" dirty="0">
                <a:solidFill>
                  <a:srgbClr val="F7F3ED"/>
                </a:solidFill>
                <a:latin typeface="Arial" pitchFamily="34" charset="0"/>
                <a:ea typeface="Arial" pitchFamily="34" charset="-122"/>
                <a:cs typeface="Arial" pitchFamily="34" charset="-120"/>
              </a:rPr>
              <a:t>1</a:t>
            </a:r>
            <a:endParaRPr lang="en-US" sz="950" dirty="0"/>
          </a:p>
        </p:txBody>
      </p:sp>
      <p:sp>
        <p:nvSpPr>
          <p:cNvPr id="12" name="Text 8"/>
          <p:cNvSpPr/>
          <p:nvPr/>
        </p:nvSpPr>
        <p:spPr>
          <a:xfrm>
            <a:off x="4470536" y="1358150"/>
            <a:ext cx="4044758" cy="192881"/>
          </a:xfrm>
          <a:prstGeom prst="rect">
            <a:avLst/>
          </a:prstGeom>
          <a:noFill/>
          <a:ln/>
        </p:spPr>
        <p:txBody>
          <a:bodyPr wrap="square" lIns="0" tIns="0" rIns="0" bIns="0" rtlCol="0" anchor="t">
            <a:spAutoFit/>
          </a:bodyPr>
          <a:lstStyle/>
          <a:p>
            <a:pPr algn="l" indent="0" marL="0">
              <a:buNone/>
            </a:pPr>
            <a:r>
              <a:rPr lang="en-US" sz="1150" b="1" dirty="0">
                <a:solidFill>
                  <a:srgbClr val="003049"/>
                </a:solidFill>
                <a:latin typeface="Arial" pitchFamily="34" charset="0"/>
                <a:ea typeface="Arial" pitchFamily="34" charset="-122"/>
                <a:cs typeface="Arial" pitchFamily="34" charset="-120"/>
              </a:rPr>
              <a:t>Open Pages settings</a:t>
            </a:r>
            <a:endParaRPr lang="en-US" sz="1150" dirty="0"/>
          </a:p>
        </p:txBody>
      </p:sp>
      <p:sp>
        <p:nvSpPr>
          <p:cNvPr id="13" name="Text 9"/>
          <p:cNvSpPr/>
          <p:nvPr/>
        </p:nvSpPr>
        <p:spPr>
          <a:xfrm>
            <a:off x="4470536" y="1608181"/>
            <a:ext cx="4044758" cy="163916"/>
          </a:xfrm>
          <a:prstGeom prst="rect">
            <a:avLst/>
          </a:prstGeom>
          <a:noFill/>
          <a:ln/>
        </p:spPr>
        <p:txBody>
          <a:bodyPr wrap="none" lIns="0" tIns="0" rIns="0" bIns="0" rtlCol="0" anchor="t">
            <a:spAutoFit/>
          </a:bodyPr>
          <a:lstStyle/>
          <a:p>
            <a:pPr algn="l" indent="0" marL="0">
              <a:lnSpc>
                <a:spcPct val="108000"/>
              </a:lnSpc>
              <a:buNone/>
            </a:pPr>
            <a:r>
              <a:rPr lang="en-US" sz="900" dirty="0">
                <a:solidFill>
                  <a:srgbClr val="42515A"/>
                </a:solidFill>
                <a:latin typeface="Arial" pitchFamily="34" charset="0"/>
                <a:ea typeface="Arial" pitchFamily="34" charset="-122"/>
                <a:cs typeface="Arial" pitchFamily="34" charset="-120"/>
              </a:rPr>
              <a:t>Visit </a:t>
            </a:r>
            <a:r>
              <a:rPr lang="en-US" sz="850" b="1" dirty="0">
                <a:solidFill>
                  <a:srgbClr val="003049"/>
                </a:solidFill>
                <a:latin typeface="Arial" pitchFamily="34" charset="0"/>
                <a:ea typeface="Arial" pitchFamily="34" charset="-122"/>
                <a:cs typeface="Arial" pitchFamily="34" charset="-120"/>
              </a:rPr>
              <a:t>github.com/jasonclarkagain/neversus/settings/pages</a:t>
            </a:r>
            <a:r>
              <a:rPr lang="en-US" sz="900" dirty="0">
                <a:solidFill>
                  <a:srgbClr val="42515A"/>
                </a:solidFill>
                <a:latin typeface="Arial" pitchFamily="34" charset="0"/>
                <a:ea typeface="Arial" pitchFamily="34" charset="-122"/>
                <a:cs typeface="Arial" pitchFamily="34" charset="-120"/>
              </a:rPr>
              <a:t>.</a:t>
            </a:r>
            <a:endParaRPr lang="en-US" sz="900" dirty="0"/>
          </a:p>
        </p:txBody>
      </p:sp>
      <p:sp>
        <p:nvSpPr>
          <p:cNvPr id="14" name="Shape 10"/>
          <p:cNvSpPr/>
          <p:nvPr/>
        </p:nvSpPr>
        <p:spPr>
          <a:xfrm>
            <a:off x="3856174" y="2186657"/>
            <a:ext cx="371475" cy="371475"/>
          </a:xfrm>
          <a:prstGeom prst="ellipse">
            <a:avLst/>
          </a:prstGeom>
          <a:solidFill>
            <a:srgbClr val="003049"/>
          </a:solidFill>
          <a:ln/>
        </p:spPr>
      </p:sp>
      <p:sp>
        <p:nvSpPr>
          <p:cNvPr id="15" name="Text 11"/>
          <p:cNvSpPr/>
          <p:nvPr/>
        </p:nvSpPr>
        <p:spPr>
          <a:xfrm>
            <a:off x="3856174" y="2186657"/>
            <a:ext cx="371475" cy="371475"/>
          </a:xfrm>
          <a:prstGeom prst="rect">
            <a:avLst/>
          </a:prstGeom>
          <a:noFill/>
          <a:ln/>
        </p:spPr>
        <p:txBody>
          <a:bodyPr wrap="none" lIns="0" tIns="0" rIns="0" bIns="0" rtlCol="0" anchor="ctr">
            <a:spAutoFit/>
          </a:bodyPr>
          <a:lstStyle/>
          <a:p>
            <a:pPr algn="ctr" indent="0" marL="0">
              <a:buNone/>
            </a:pPr>
            <a:r>
              <a:rPr lang="en-US" sz="950" b="1" dirty="0">
                <a:solidFill>
                  <a:srgbClr val="F7F3ED"/>
                </a:solidFill>
                <a:latin typeface="Arial" pitchFamily="34" charset="0"/>
                <a:ea typeface="Arial" pitchFamily="34" charset="-122"/>
                <a:cs typeface="Arial" pitchFamily="34" charset="-120"/>
              </a:rPr>
              <a:t>2</a:t>
            </a:r>
            <a:endParaRPr lang="en-US" sz="950" dirty="0"/>
          </a:p>
        </p:txBody>
      </p:sp>
      <p:sp>
        <p:nvSpPr>
          <p:cNvPr id="16" name="Text 12"/>
          <p:cNvSpPr/>
          <p:nvPr/>
        </p:nvSpPr>
        <p:spPr>
          <a:xfrm>
            <a:off x="4470536" y="2165393"/>
            <a:ext cx="4044758" cy="192881"/>
          </a:xfrm>
          <a:prstGeom prst="rect">
            <a:avLst/>
          </a:prstGeom>
          <a:noFill/>
          <a:ln/>
        </p:spPr>
        <p:txBody>
          <a:bodyPr wrap="square" lIns="0" tIns="0" rIns="0" bIns="0" rtlCol="0" anchor="t">
            <a:spAutoFit/>
          </a:bodyPr>
          <a:lstStyle/>
          <a:p>
            <a:pPr algn="l" indent="0" marL="0">
              <a:buNone/>
            </a:pPr>
            <a:r>
              <a:rPr lang="en-US" sz="1150" b="1" dirty="0">
                <a:solidFill>
                  <a:srgbClr val="003049"/>
                </a:solidFill>
                <a:latin typeface="Arial" pitchFamily="34" charset="0"/>
                <a:ea typeface="Arial" pitchFamily="34" charset="-122"/>
                <a:cs typeface="Arial" pitchFamily="34" charset="-120"/>
              </a:rPr>
              <a:t>Keep the source on GitHub Actions</a:t>
            </a:r>
            <a:endParaRPr lang="en-US" sz="1150" dirty="0"/>
          </a:p>
        </p:txBody>
      </p:sp>
      <p:sp>
        <p:nvSpPr>
          <p:cNvPr id="17" name="Text 13"/>
          <p:cNvSpPr/>
          <p:nvPr/>
        </p:nvSpPr>
        <p:spPr>
          <a:xfrm>
            <a:off x="4470536" y="2415425"/>
            <a:ext cx="4044758" cy="163916"/>
          </a:xfrm>
          <a:prstGeom prst="rect">
            <a:avLst/>
          </a:prstGeom>
          <a:noFill/>
          <a:ln/>
        </p:spPr>
        <p:txBody>
          <a:bodyPr wrap="none" lIns="0" tIns="0" rIns="0" bIns="0" rtlCol="0" anchor="t">
            <a:spAutoFit/>
          </a:bodyPr>
          <a:lstStyle/>
          <a:p>
            <a:pPr algn="l" indent="0" marL="0">
              <a:lnSpc>
                <a:spcPct val="108000"/>
              </a:lnSpc>
              <a:buNone/>
            </a:pPr>
            <a:r>
              <a:rPr lang="en-US" sz="900" dirty="0">
                <a:solidFill>
                  <a:srgbClr val="42515A"/>
                </a:solidFill>
                <a:latin typeface="Arial" pitchFamily="34" charset="0"/>
                <a:ea typeface="Arial" pitchFamily="34" charset="-122"/>
                <a:cs typeface="Arial" pitchFamily="34" charset="-120"/>
              </a:rPr>
              <a:t>Your deployment workflow remains the publishing mechanism for </a:t>
            </a:r>
            <a:r>
              <a:rPr lang="en-US" sz="850" b="1" dirty="0">
                <a:solidFill>
                  <a:srgbClr val="C45600"/>
                </a:solidFill>
                <a:latin typeface="Arial" pitchFamily="34" charset="0"/>
                <a:ea typeface="Arial" pitchFamily="34" charset="-122"/>
                <a:cs typeface="Arial" pitchFamily="34" charset="-120"/>
              </a:rPr>
              <a:t>main</a:t>
            </a:r>
            <a:r>
              <a:rPr lang="en-US" sz="900" dirty="0">
                <a:solidFill>
                  <a:srgbClr val="42515A"/>
                </a:solidFill>
                <a:latin typeface="Arial" pitchFamily="34" charset="0"/>
                <a:ea typeface="Arial" pitchFamily="34" charset="-122"/>
                <a:cs typeface="Arial" pitchFamily="34" charset="-120"/>
              </a:rPr>
              <a:t>.</a:t>
            </a:r>
            <a:endParaRPr lang="en-US" sz="900" dirty="0"/>
          </a:p>
        </p:txBody>
      </p:sp>
      <p:sp>
        <p:nvSpPr>
          <p:cNvPr id="18" name="Shape 14"/>
          <p:cNvSpPr/>
          <p:nvPr/>
        </p:nvSpPr>
        <p:spPr>
          <a:xfrm>
            <a:off x="3856174" y="2993901"/>
            <a:ext cx="371475" cy="371475"/>
          </a:xfrm>
          <a:prstGeom prst="ellipse">
            <a:avLst/>
          </a:prstGeom>
          <a:solidFill>
            <a:srgbClr val="003049"/>
          </a:solidFill>
          <a:ln/>
        </p:spPr>
      </p:sp>
      <p:sp>
        <p:nvSpPr>
          <p:cNvPr id="19" name="Text 15"/>
          <p:cNvSpPr/>
          <p:nvPr/>
        </p:nvSpPr>
        <p:spPr>
          <a:xfrm>
            <a:off x="3856174" y="2993901"/>
            <a:ext cx="371475" cy="371475"/>
          </a:xfrm>
          <a:prstGeom prst="rect">
            <a:avLst/>
          </a:prstGeom>
          <a:noFill/>
          <a:ln/>
        </p:spPr>
        <p:txBody>
          <a:bodyPr wrap="none" lIns="0" tIns="0" rIns="0" bIns="0" rtlCol="0" anchor="ctr">
            <a:spAutoFit/>
          </a:bodyPr>
          <a:lstStyle/>
          <a:p>
            <a:pPr algn="ctr" indent="0" marL="0">
              <a:buNone/>
            </a:pPr>
            <a:r>
              <a:rPr lang="en-US" sz="950" b="1" dirty="0">
                <a:solidFill>
                  <a:srgbClr val="F7F3ED"/>
                </a:solidFill>
                <a:latin typeface="Arial" pitchFamily="34" charset="0"/>
                <a:ea typeface="Arial" pitchFamily="34" charset="-122"/>
                <a:cs typeface="Arial" pitchFamily="34" charset="-120"/>
              </a:rPr>
              <a:t>3</a:t>
            </a:r>
            <a:endParaRPr lang="en-US" sz="950" dirty="0"/>
          </a:p>
        </p:txBody>
      </p:sp>
      <p:sp>
        <p:nvSpPr>
          <p:cNvPr id="20" name="Text 16"/>
          <p:cNvSpPr/>
          <p:nvPr/>
        </p:nvSpPr>
        <p:spPr>
          <a:xfrm>
            <a:off x="4470536" y="2972637"/>
            <a:ext cx="4044758" cy="192881"/>
          </a:xfrm>
          <a:prstGeom prst="rect">
            <a:avLst/>
          </a:prstGeom>
          <a:noFill/>
          <a:ln/>
        </p:spPr>
        <p:txBody>
          <a:bodyPr wrap="square" lIns="0" tIns="0" rIns="0" bIns="0" rtlCol="0" anchor="t">
            <a:spAutoFit/>
          </a:bodyPr>
          <a:lstStyle/>
          <a:p>
            <a:pPr algn="l" indent="0" marL="0">
              <a:buNone/>
            </a:pPr>
            <a:r>
              <a:rPr lang="en-US" sz="1150" b="1" dirty="0">
                <a:solidFill>
                  <a:srgbClr val="003049"/>
                </a:solidFill>
                <a:latin typeface="Arial" pitchFamily="34" charset="0"/>
                <a:ea typeface="Arial" pitchFamily="34" charset="-122"/>
                <a:cs typeface="Arial" pitchFamily="34" charset="-120"/>
              </a:rPr>
              <a:t>Enter the custom domain</a:t>
            </a:r>
            <a:endParaRPr lang="en-US" sz="1150" dirty="0"/>
          </a:p>
        </p:txBody>
      </p:sp>
      <p:sp>
        <p:nvSpPr>
          <p:cNvPr id="21" name="Text 17"/>
          <p:cNvSpPr/>
          <p:nvPr/>
        </p:nvSpPr>
        <p:spPr>
          <a:xfrm>
            <a:off x="4470536" y="3222668"/>
            <a:ext cx="4044758" cy="163916"/>
          </a:xfrm>
          <a:prstGeom prst="rect">
            <a:avLst/>
          </a:prstGeom>
          <a:noFill/>
          <a:ln/>
        </p:spPr>
        <p:txBody>
          <a:bodyPr wrap="none" lIns="0" tIns="0" rIns="0" bIns="0" rtlCol="0" anchor="t">
            <a:spAutoFit/>
          </a:bodyPr>
          <a:lstStyle/>
          <a:p>
            <a:pPr algn="l" indent="0" marL="0">
              <a:lnSpc>
                <a:spcPct val="108000"/>
              </a:lnSpc>
              <a:buNone/>
            </a:pPr>
            <a:r>
              <a:rPr lang="en-US" sz="900" dirty="0">
                <a:solidFill>
                  <a:srgbClr val="42515A"/>
                </a:solidFill>
                <a:latin typeface="Arial" pitchFamily="34" charset="0"/>
                <a:ea typeface="Arial" pitchFamily="34" charset="-122"/>
                <a:cs typeface="Arial" pitchFamily="34" charset="-120"/>
              </a:rPr>
              <a:t>Set </a:t>
            </a:r>
            <a:r>
              <a:rPr lang="en-US" sz="850" b="1" dirty="0">
                <a:solidFill>
                  <a:srgbClr val="003049"/>
                </a:solidFill>
                <a:latin typeface="Arial" pitchFamily="34" charset="0"/>
                <a:ea typeface="Arial" pitchFamily="34" charset="-122"/>
                <a:cs typeface="Arial" pitchFamily="34" charset="-120"/>
              </a:rPr>
              <a:t>stackwright.online</a:t>
            </a:r>
            <a:r>
              <a:rPr lang="en-US" sz="900" dirty="0">
                <a:solidFill>
                  <a:srgbClr val="42515A"/>
                </a:solidFill>
                <a:latin typeface="Arial" pitchFamily="34" charset="0"/>
                <a:ea typeface="Arial" pitchFamily="34" charset="-122"/>
                <a:cs typeface="Arial" pitchFamily="34" charset="-120"/>
              </a:rPr>
              <a:t> in the </a:t>
            </a:r>
            <a:r>
              <a:rPr lang="en-US" sz="850" b="1" dirty="0">
                <a:solidFill>
                  <a:srgbClr val="C45600"/>
                </a:solidFill>
                <a:latin typeface="Arial" pitchFamily="34" charset="0"/>
                <a:ea typeface="Arial" pitchFamily="34" charset="-122"/>
                <a:cs typeface="Arial" pitchFamily="34" charset="-120"/>
              </a:rPr>
              <a:t>Custom domain</a:t>
            </a:r>
            <a:r>
              <a:rPr lang="en-US" sz="900" dirty="0">
                <a:solidFill>
                  <a:srgbClr val="42515A"/>
                </a:solidFill>
                <a:latin typeface="Arial" pitchFamily="34" charset="0"/>
                <a:ea typeface="Arial" pitchFamily="34" charset="-122"/>
                <a:cs typeface="Arial" pitchFamily="34" charset="-120"/>
              </a:rPr>
              <a:t> field, then select Save.</a:t>
            </a:r>
            <a:endParaRPr lang="en-US" sz="900" dirty="0"/>
          </a:p>
        </p:txBody>
      </p:sp>
      <p:sp>
        <p:nvSpPr>
          <p:cNvPr id="22" name="Shape 18"/>
          <p:cNvSpPr/>
          <p:nvPr/>
        </p:nvSpPr>
        <p:spPr>
          <a:xfrm>
            <a:off x="3856174" y="3801145"/>
            <a:ext cx="371475" cy="371475"/>
          </a:xfrm>
          <a:prstGeom prst="ellipse">
            <a:avLst/>
          </a:prstGeom>
          <a:solidFill>
            <a:srgbClr val="003049"/>
          </a:solidFill>
          <a:ln/>
        </p:spPr>
      </p:sp>
      <p:sp>
        <p:nvSpPr>
          <p:cNvPr id="23" name="Text 19"/>
          <p:cNvSpPr/>
          <p:nvPr/>
        </p:nvSpPr>
        <p:spPr>
          <a:xfrm>
            <a:off x="3856174" y="3801145"/>
            <a:ext cx="371475" cy="371475"/>
          </a:xfrm>
          <a:prstGeom prst="rect">
            <a:avLst/>
          </a:prstGeom>
          <a:noFill/>
          <a:ln/>
        </p:spPr>
        <p:txBody>
          <a:bodyPr wrap="none" lIns="0" tIns="0" rIns="0" bIns="0" rtlCol="0" anchor="ctr">
            <a:spAutoFit/>
          </a:bodyPr>
          <a:lstStyle/>
          <a:p>
            <a:pPr algn="ctr" indent="0" marL="0">
              <a:buNone/>
            </a:pPr>
            <a:r>
              <a:rPr lang="en-US" sz="950" b="1" dirty="0">
                <a:solidFill>
                  <a:srgbClr val="F7F3ED"/>
                </a:solidFill>
                <a:latin typeface="Arial" pitchFamily="34" charset="0"/>
                <a:ea typeface="Arial" pitchFamily="34" charset="-122"/>
                <a:cs typeface="Arial" pitchFamily="34" charset="-120"/>
              </a:rPr>
              <a:t>4</a:t>
            </a:r>
            <a:endParaRPr lang="en-US" sz="950" dirty="0"/>
          </a:p>
        </p:txBody>
      </p:sp>
      <p:sp>
        <p:nvSpPr>
          <p:cNvPr id="24" name="Text 20"/>
          <p:cNvSpPr/>
          <p:nvPr/>
        </p:nvSpPr>
        <p:spPr>
          <a:xfrm>
            <a:off x="4470536" y="3697951"/>
            <a:ext cx="4044758" cy="192881"/>
          </a:xfrm>
          <a:prstGeom prst="rect">
            <a:avLst/>
          </a:prstGeom>
          <a:noFill/>
          <a:ln/>
        </p:spPr>
        <p:txBody>
          <a:bodyPr wrap="square" lIns="0" tIns="0" rIns="0" bIns="0" rtlCol="0" anchor="t">
            <a:spAutoFit/>
          </a:bodyPr>
          <a:lstStyle/>
          <a:p>
            <a:pPr algn="l" indent="0" marL="0">
              <a:buNone/>
            </a:pPr>
            <a:r>
              <a:rPr lang="en-US" sz="1150" b="1" dirty="0">
                <a:solidFill>
                  <a:srgbClr val="003049"/>
                </a:solidFill>
                <a:latin typeface="Arial" pitchFamily="34" charset="0"/>
                <a:ea typeface="Arial" pitchFamily="34" charset="-122"/>
                <a:cs typeface="Arial" pitchFamily="34" charset="-120"/>
              </a:rPr>
              <a:t>Complete verification when offered</a:t>
            </a:r>
            <a:endParaRPr lang="en-US" sz="1150" dirty="0"/>
          </a:p>
        </p:txBody>
      </p:sp>
      <p:sp>
        <p:nvSpPr>
          <p:cNvPr id="25" name="Text 21"/>
          <p:cNvSpPr/>
          <p:nvPr/>
        </p:nvSpPr>
        <p:spPr>
          <a:xfrm>
            <a:off x="4470536" y="3947982"/>
            <a:ext cx="4044758" cy="327831"/>
          </a:xfrm>
          <a:prstGeom prst="rect">
            <a:avLst/>
          </a:prstGeom>
          <a:noFill/>
          <a:ln/>
        </p:spPr>
        <p:txBody>
          <a:bodyPr wrap="square" lIns="0" tIns="0" rIns="0" bIns="0" rtlCol="0" anchor="t">
            <a:spAutoFit/>
          </a:bodyPr>
          <a:lstStyle/>
          <a:p>
            <a:pPr algn="l" indent="0" marL="0">
              <a:lnSpc>
                <a:spcPct val="108000"/>
              </a:lnSpc>
              <a:buNone/>
            </a:pPr>
            <a:r>
              <a:rPr lang="en-US" sz="900" dirty="0">
                <a:solidFill>
                  <a:srgbClr val="42515A"/>
                </a:solidFill>
                <a:latin typeface="Arial" pitchFamily="34" charset="0"/>
                <a:ea typeface="Arial" pitchFamily="34" charset="-122"/>
                <a:cs typeface="Arial" pitchFamily="34" charset="-120"/>
              </a:rPr>
              <a:t>Domain verification adds protection before the DNS records are made public.</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42925" y="414338"/>
            <a:ext cx="414338" cy="414338"/>
          </a:xfrm>
          <a:prstGeom prst="ellipse">
            <a:avLst/>
          </a:prstGeom>
          <a:solidFill>
            <a:srgbClr val="F77F00"/>
          </a:solidFill>
          <a:ln/>
        </p:spPr>
      </p:sp>
      <p:sp>
        <p:nvSpPr>
          <p:cNvPr id="5" name="Text 1"/>
          <p:cNvSpPr/>
          <p:nvPr/>
        </p:nvSpPr>
        <p:spPr>
          <a:xfrm>
            <a:off x="542925" y="414338"/>
            <a:ext cx="414338" cy="414338"/>
          </a:xfrm>
          <a:prstGeom prst="rect">
            <a:avLst/>
          </a:prstGeom>
          <a:noFill/>
          <a:ln/>
        </p:spPr>
        <p:txBody>
          <a:bodyPr wrap="none" lIns="0" tIns="0" rIns="0" bIns="0" rtlCol="0" anchor="ctr">
            <a:spAutoFit/>
          </a:bodyPr>
          <a:lstStyle/>
          <a:p>
            <a:pPr algn="ctr" indent="0" marL="0">
              <a:buNone/>
            </a:pPr>
            <a:r>
              <a:rPr lang="en-US" sz="1200" b="1" dirty="0">
                <a:solidFill>
                  <a:srgbClr val="003049"/>
                </a:solidFill>
                <a:latin typeface="Arial" pitchFamily="34" charset="0"/>
                <a:ea typeface="Arial" pitchFamily="34" charset="-122"/>
                <a:cs typeface="Arial" pitchFamily="34" charset="-120"/>
              </a:rPr>
              <a:t>03</a:t>
            </a:r>
            <a:endParaRPr lang="en-US" sz="1200" dirty="0"/>
          </a:p>
        </p:txBody>
      </p:sp>
      <p:sp>
        <p:nvSpPr>
          <p:cNvPr id="6" name="Text 2"/>
          <p:cNvSpPr/>
          <p:nvPr/>
        </p:nvSpPr>
        <p:spPr>
          <a:xfrm>
            <a:off x="1128713" y="453628"/>
            <a:ext cx="5607118" cy="335756"/>
          </a:xfrm>
          <a:prstGeom prst="rect">
            <a:avLst/>
          </a:prstGeom>
          <a:noFill/>
          <a:ln/>
        </p:spPr>
        <p:txBody>
          <a:bodyPr wrap="none" lIns="0" tIns="0" rIns="0" bIns="0" rtlCol="0" anchor="t">
            <a:spAutoFit/>
          </a:bodyPr>
          <a:lstStyle/>
          <a:p>
            <a:pPr algn="l" indent="0" marL="0">
              <a:lnSpc>
                <a:spcPct val="80000"/>
              </a:lnSpc>
              <a:buNone/>
            </a:pPr>
            <a:r>
              <a:rPr lang="en-US" sz="2400" b="1" spc="-2" kern="0" dirty="0">
                <a:solidFill>
                  <a:srgbClr val="003049"/>
                </a:solidFill>
                <a:latin typeface="Arial" pitchFamily="34" charset="0"/>
                <a:ea typeface="Arial" pitchFamily="34" charset="-122"/>
                <a:cs typeface="Arial" pitchFamily="34" charset="-120"/>
              </a:rPr>
              <a:t>Open the Namecheap DNS workspace</a:t>
            </a:r>
            <a:endParaRPr lang="en-US" sz="2400" dirty="0"/>
          </a:p>
        </p:txBody>
      </p:sp>
      <p:sp>
        <p:nvSpPr>
          <p:cNvPr id="7" name="Text 3"/>
          <p:cNvSpPr/>
          <p:nvPr/>
        </p:nvSpPr>
        <p:spPr>
          <a:xfrm>
            <a:off x="1128713" y="957263"/>
            <a:ext cx="7472363" cy="192881"/>
          </a:xfrm>
          <a:prstGeom prst="rect">
            <a:avLst/>
          </a:prstGeom>
          <a:noFill/>
          <a:ln/>
        </p:spPr>
        <p:txBody>
          <a:bodyPr wrap="none" lIns="0" tIns="0" rIns="0" bIns="0" rtlCol="0" anchor="t">
            <a:spAutoFit/>
          </a:bodyPr>
          <a:lstStyle/>
          <a:p>
            <a:pPr algn="l" indent="0" marL="0">
              <a:lnSpc>
                <a:spcPct val="108000"/>
              </a:lnSpc>
              <a:buNone/>
            </a:pPr>
            <a:r>
              <a:rPr lang="en-US" sz="1050" dirty="0">
                <a:solidFill>
                  <a:srgbClr val="42515A"/>
                </a:solidFill>
                <a:latin typeface="Arial" pitchFamily="34" charset="0"/>
                <a:ea typeface="Arial" pitchFamily="34" charset="-122"/>
                <a:cs typeface="Arial" pitchFamily="34" charset="-120"/>
              </a:rPr>
              <a:t>The changes happen in one place: </a:t>
            </a:r>
            <a:r>
              <a:rPr lang="en-US" sz="1000" b="1" dirty="0">
                <a:solidFill>
                  <a:srgbClr val="42515A"/>
                </a:solidFill>
                <a:latin typeface="Arial" pitchFamily="34" charset="0"/>
                <a:ea typeface="Arial" pitchFamily="34" charset="-122"/>
                <a:cs typeface="Arial" pitchFamily="34" charset="-120"/>
              </a:rPr>
              <a:t>Advanced DNS → Host Records</a:t>
            </a:r>
            <a:r>
              <a:rPr lang="en-US" sz="1050" dirty="0">
                <a:solidFill>
                  <a:srgbClr val="42515A"/>
                </a:solidFill>
                <a:latin typeface="Arial" pitchFamily="34" charset="0"/>
                <a:ea typeface="Arial" pitchFamily="34" charset="-122"/>
                <a:cs typeface="Arial" pitchFamily="34" charset="-120"/>
              </a:rPr>
              <a:t>.</a:t>
            </a:r>
            <a:endParaRPr lang="en-US" sz="1050" dirty="0"/>
          </a:p>
        </p:txBody>
      </p:sp>
      <p:sp>
        <p:nvSpPr>
          <p:cNvPr id="8" name="Shape 4"/>
          <p:cNvSpPr/>
          <p:nvPr/>
        </p:nvSpPr>
        <p:spPr>
          <a:xfrm>
            <a:off x="542925" y="1735931"/>
            <a:ext cx="385763" cy="385763"/>
          </a:xfrm>
          <a:prstGeom prst="ellipse">
            <a:avLst/>
          </a:prstGeom>
          <a:solidFill>
            <a:srgbClr val="003049"/>
          </a:solidFill>
          <a:ln/>
        </p:spPr>
      </p:sp>
      <p:sp>
        <p:nvSpPr>
          <p:cNvPr id="9" name="Text 5"/>
          <p:cNvSpPr/>
          <p:nvPr/>
        </p:nvSpPr>
        <p:spPr>
          <a:xfrm>
            <a:off x="542925" y="1735931"/>
            <a:ext cx="385763" cy="385763"/>
          </a:xfrm>
          <a:prstGeom prst="rect">
            <a:avLst/>
          </a:prstGeom>
          <a:noFill/>
          <a:ln/>
        </p:spPr>
        <p:txBody>
          <a:bodyPr wrap="none" lIns="0" tIns="0" rIns="0" bIns="0" rtlCol="0" anchor="ctr">
            <a:spAutoFit/>
          </a:bodyPr>
          <a:lstStyle/>
          <a:p>
            <a:pPr algn="ctr" indent="0" marL="0">
              <a:buNone/>
            </a:pPr>
            <a:r>
              <a:rPr lang="en-US" sz="1000" b="1" dirty="0">
                <a:solidFill>
                  <a:srgbClr val="F7F3ED"/>
                </a:solidFill>
                <a:latin typeface="Arial" pitchFamily="34" charset="0"/>
                <a:ea typeface="Arial" pitchFamily="34" charset="-122"/>
                <a:cs typeface="Arial" pitchFamily="34" charset="-120"/>
              </a:rPr>
              <a:t>1</a:t>
            </a:r>
            <a:endParaRPr lang="en-US" sz="1000" dirty="0"/>
          </a:p>
        </p:txBody>
      </p:sp>
      <p:sp>
        <p:nvSpPr>
          <p:cNvPr id="10" name="Text 6"/>
          <p:cNvSpPr/>
          <p:nvPr/>
        </p:nvSpPr>
        <p:spPr>
          <a:xfrm>
            <a:off x="542925" y="2278856"/>
            <a:ext cx="1571625" cy="172510"/>
          </a:xfrm>
          <a:prstGeom prst="rect">
            <a:avLst/>
          </a:prstGeom>
          <a:noFill/>
          <a:ln/>
        </p:spPr>
        <p:txBody>
          <a:bodyPr wrap="none" lIns="0" tIns="0" rIns="0" bIns="0" rtlCol="0" anchor="t">
            <a:spAutoFit/>
          </a:bodyPr>
          <a:lstStyle/>
          <a:p>
            <a:pPr algn="l" indent="0" marL="0">
              <a:lnSpc>
                <a:spcPct val="84000"/>
              </a:lnSpc>
              <a:buNone/>
            </a:pPr>
            <a:r>
              <a:rPr lang="en-US" sz="1150" b="1" spc="-1" kern="0" dirty="0">
                <a:solidFill>
                  <a:srgbClr val="003049"/>
                </a:solidFill>
                <a:latin typeface="Arial" pitchFamily="34" charset="0"/>
                <a:ea typeface="Arial" pitchFamily="34" charset="-122"/>
                <a:cs typeface="Arial" pitchFamily="34" charset="-120"/>
              </a:rPr>
              <a:t>Domain List</a:t>
            </a:r>
            <a:endParaRPr lang="en-US" sz="1150" dirty="0"/>
          </a:p>
        </p:txBody>
      </p:sp>
      <p:sp>
        <p:nvSpPr>
          <p:cNvPr id="11" name="Text 7"/>
          <p:cNvSpPr/>
          <p:nvPr/>
        </p:nvSpPr>
        <p:spPr>
          <a:xfrm>
            <a:off x="542925" y="2522804"/>
            <a:ext cx="1585913" cy="308521"/>
          </a:xfrm>
          <a:prstGeom prst="rect">
            <a:avLst/>
          </a:prstGeom>
          <a:noFill/>
          <a:ln/>
        </p:spPr>
        <p:txBody>
          <a:bodyPr wrap="square" lIns="0" tIns="0" rIns="0" bIns="0" rtlCol="0" anchor="t">
            <a:spAutoFit/>
          </a:bodyPr>
          <a:lstStyle/>
          <a:p>
            <a:pPr algn="l" indent="0" marL="0">
              <a:lnSpc>
                <a:spcPct val="108000"/>
              </a:lnSpc>
              <a:buNone/>
            </a:pPr>
            <a:r>
              <a:rPr lang="en-US" sz="850" dirty="0">
                <a:solidFill>
                  <a:srgbClr val="42515A"/>
                </a:solidFill>
                <a:latin typeface="Arial" pitchFamily="34" charset="0"/>
                <a:ea typeface="Arial" pitchFamily="34" charset="-122"/>
                <a:cs typeface="Arial" pitchFamily="34" charset="-120"/>
              </a:rPr>
              <a:t>Sign in to Namecheap and </a:t>
            </a:r>
            <a:r>
              <a:rPr lang="en-US" sz="850" dirty="0">
                <a:solidFill>
                  <a:srgbClr val="42515A"/>
                </a:solidFill>
                <a:latin typeface="Arial" pitchFamily="34" charset="0"/>
                <a:ea typeface="Arial" pitchFamily="34" charset="-122"/>
                <a:cs typeface="Arial" pitchFamily="34" charset="-120"/>
              </a:rPr>
              <a:t>locate </a:t>
            </a:r>
            <a:r>
              <a:rPr lang="en-US" sz="800" b="1" dirty="0">
                <a:solidFill>
                  <a:srgbClr val="42515A"/>
                </a:solidFill>
                <a:latin typeface="Arial" pitchFamily="34" charset="0"/>
                <a:ea typeface="Arial" pitchFamily="34" charset="-122"/>
                <a:cs typeface="Arial" pitchFamily="34" charset="-120"/>
              </a:rPr>
              <a:t>stackwright.online</a:t>
            </a:r>
            <a:r>
              <a:rPr lang="en-US" sz="850" dirty="0">
                <a:solidFill>
                  <a:srgbClr val="42515A"/>
                </a:solidFill>
                <a:latin typeface="Arial" pitchFamily="34" charset="0"/>
                <a:ea typeface="Arial" pitchFamily="34" charset="-122"/>
                <a:cs typeface="Arial" pitchFamily="34" charset="-120"/>
              </a:rPr>
              <a:t>.</a:t>
            </a:r>
            <a:endParaRPr lang="en-US" sz="850" dirty="0"/>
          </a:p>
        </p:txBody>
      </p:sp>
      <p:sp>
        <p:nvSpPr>
          <p:cNvPr id="12" name="Shape 8"/>
          <p:cNvSpPr/>
          <p:nvPr/>
        </p:nvSpPr>
        <p:spPr>
          <a:xfrm>
            <a:off x="2300288" y="1921669"/>
            <a:ext cx="342900" cy="14288"/>
          </a:xfrm>
          <a:prstGeom prst="rect">
            <a:avLst/>
          </a:prstGeom>
          <a:solidFill>
            <a:srgbClr val="7F9AA8"/>
          </a:solidFill>
          <a:ln/>
        </p:spPr>
      </p:sp>
      <p:sp>
        <p:nvSpPr>
          <p:cNvPr id="13" name="Shape 9"/>
          <p:cNvSpPr/>
          <p:nvPr/>
        </p:nvSpPr>
        <p:spPr>
          <a:xfrm>
            <a:off x="2578894" y="1893094"/>
            <a:ext cx="78581" cy="78581"/>
          </a:xfrm>
          <a:prstGeom prst="ellipse">
            <a:avLst/>
          </a:prstGeom>
          <a:solidFill>
            <a:srgbClr val="F77F00"/>
          </a:solidFill>
          <a:ln/>
        </p:spPr>
      </p:sp>
      <p:sp>
        <p:nvSpPr>
          <p:cNvPr id="14" name="Shape 10"/>
          <p:cNvSpPr/>
          <p:nvPr/>
        </p:nvSpPr>
        <p:spPr>
          <a:xfrm>
            <a:off x="2643188" y="1735931"/>
            <a:ext cx="385763" cy="385763"/>
          </a:xfrm>
          <a:prstGeom prst="ellipse">
            <a:avLst/>
          </a:prstGeom>
          <a:solidFill>
            <a:srgbClr val="003049"/>
          </a:solidFill>
          <a:ln/>
        </p:spPr>
      </p:sp>
      <p:sp>
        <p:nvSpPr>
          <p:cNvPr id="15" name="Text 11"/>
          <p:cNvSpPr/>
          <p:nvPr/>
        </p:nvSpPr>
        <p:spPr>
          <a:xfrm>
            <a:off x="2643188" y="1735931"/>
            <a:ext cx="385763" cy="385763"/>
          </a:xfrm>
          <a:prstGeom prst="rect">
            <a:avLst/>
          </a:prstGeom>
          <a:noFill/>
          <a:ln/>
        </p:spPr>
        <p:txBody>
          <a:bodyPr wrap="none" lIns="0" tIns="0" rIns="0" bIns="0" rtlCol="0" anchor="ctr">
            <a:spAutoFit/>
          </a:bodyPr>
          <a:lstStyle/>
          <a:p>
            <a:pPr algn="ctr" indent="0" marL="0">
              <a:buNone/>
            </a:pPr>
            <a:r>
              <a:rPr lang="en-US" sz="1000" b="1" dirty="0">
                <a:solidFill>
                  <a:srgbClr val="F7F3ED"/>
                </a:solidFill>
                <a:latin typeface="Arial" pitchFamily="34" charset="0"/>
                <a:ea typeface="Arial" pitchFamily="34" charset="-122"/>
                <a:cs typeface="Arial" pitchFamily="34" charset="-120"/>
              </a:rPr>
              <a:t>2</a:t>
            </a:r>
            <a:endParaRPr lang="en-US" sz="1000" dirty="0"/>
          </a:p>
        </p:txBody>
      </p:sp>
      <p:sp>
        <p:nvSpPr>
          <p:cNvPr id="16" name="Text 12"/>
          <p:cNvSpPr/>
          <p:nvPr/>
        </p:nvSpPr>
        <p:spPr>
          <a:xfrm>
            <a:off x="2643188" y="2278856"/>
            <a:ext cx="1571625" cy="172510"/>
          </a:xfrm>
          <a:prstGeom prst="rect">
            <a:avLst/>
          </a:prstGeom>
          <a:noFill/>
          <a:ln/>
        </p:spPr>
        <p:txBody>
          <a:bodyPr wrap="none" lIns="0" tIns="0" rIns="0" bIns="0" rtlCol="0" anchor="t">
            <a:spAutoFit/>
          </a:bodyPr>
          <a:lstStyle/>
          <a:p>
            <a:pPr algn="l" indent="0" marL="0">
              <a:lnSpc>
                <a:spcPct val="84000"/>
              </a:lnSpc>
              <a:buNone/>
            </a:pPr>
            <a:r>
              <a:rPr lang="en-US" sz="1150" b="1" spc="-1" kern="0" dirty="0">
                <a:solidFill>
                  <a:srgbClr val="003049"/>
                </a:solidFill>
                <a:latin typeface="Arial" pitchFamily="34" charset="0"/>
                <a:ea typeface="Arial" pitchFamily="34" charset="-122"/>
                <a:cs typeface="Arial" pitchFamily="34" charset="-120"/>
              </a:rPr>
              <a:t>Manage</a:t>
            </a:r>
            <a:endParaRPr lang="en-US" sz="1150" dirty="0"/>
          </a:p>
        </p:txBody>
      </p:sp>
      <p:sp>
        <p:nvSpPr>
          <p:cNvPr id="17" name="Text 13"/>
          <p:cNvSpPr/>
          <p:nvPr/>
        </p:nvSpPr>
        <p:spPr>
          <a:xfrm>
            <a:off x="2643188" y="2522804"/>
            <a:ext cx="1585913" cy="462781"/>
          </a:xfrm>
          <a:prstGeom prst="rect">
            <a:avLst/>
          </a:prstGeom>
          <a:noFill/>
          <a:ln/>
        </p:spPr>
        <p:txBody>
          <a:bodyPr wrap="square" lIns="0" tIns="0" rIns="0" bIns="0" rtlCol="0" anchor="t">
            <a:spAutoFit/>
          </a:bodyPr>
          <a:lstStyle/>
          <a:p>
            <a:pPr algn="l" indent="0" marL="0">
              <a:lnSpc>
                <a:spcPct val="108000"/>
              </a:lnSpc>
              <a:buNone/>
            </a:pPr>
            <a:r>
              <a:rPr lang="en-US" sz="850" dirty="0">
                <a:solidFill>
                  <a:srgbClr val="42515A"/>
                </a:solidFill>
                <a:latin typeface="Arial" pitchFamily="34" charset="0"/>
                <a:ea typeface="Arial" pitchFamily="34" charset="-122"/>
                <a:cs typeface="Arial" pitchFamily="34" charset="-120"/>
              </a:rPr>
              <a:t>Open the domain’s management view from the row action.</a:t>
            </a:r>
            <a:endParaRPr lang="en-US" sz="850" dirty="0"/>
          </a:p>
        </p:txBody>
      </p:sp>
      <p:sp>
        <p:nvSpPr>
          <p:cNvPr id="18" name="Shape 14"/>
          <p:cNvSpPr/>
          <p:nvPr/>
        </p:nvSpPr>
        <p:spPr>
          <a:xfrm>
            <a:off x="4400550" y="1921669"/>
            <a:ext cx="342900" cy="14288"/>
          </a:xfrm>
          <a:prstGeom prst="rect">
            <a:avLst/>
          </a:prstGeom>
          <a:solidFill>
            <a:srgbClr val="7F9AA8"/>
          </a:solidFill>
          <a:ln/>
        </p:spPr>
      </p:sp>
      <p:sp>
        <p:nvSpPr>
          <p:cNvPr id="19" name="Shape 15"/>
          <p:cNvSpPr/>
          <p:nvPr/>
        </p:nvSpPr>
        <p:spPr>
          <a:xfrm>
            <a:off x="4679156" y="1893094"/>
            <a:ext cx="78581" cy="78581"/>
          </a:xfrm>
          <a:prstGeom prst="ellipse">
            <a:avLst/>
          </a:prstGeom>
          <a:solidFill>
            <a:srgbClr val="F77F00"/>
          </a:solidFill>
          <a:ln/>
        </p:spPr>
      </p:sp>
      <p:sp>
        <p:nvSpPr>
          <p:cNvPr id="20" name="Shape 16"/>
          <p:cNvSpPr/>
          <p:nvPr/>
        </p:nvSpPr>
        <p:spPr>
          <a:xfrm>
            <a:off x="4743450" y="1735931"/>
            <a:ext cx="385763" cy="385763"/>
          </a:xfrm>
          <a:prstGeom prst="ellipse">
            <a:avLst/>
          </a:prstGeom>
          <a:solidFill>
            <a:srgbClr val="003049"/>
          </a:solidFill>
          <a:ln/>
        </p:spPr>
      </p:sp>
      <p:sp>
        <p:nvSpPr>
          <p:cNvPr id="21" name="Text 17"/>
          <p:cNvSpPr/>
          <p:nvPr/>
        </p:nvSpPr>
        <p:spPr>
          <a:xfrm>
            <a:off x="4743450" y="1735931"/>
            <a:ext cx="385763" cy="385763"/>
          </a:xfrm>
          <a:prstGeom prst="rect">
            <a:avLst/>
          </a:prstGeom>
          <a:noFill/>
          <a:ln/>
        </p:spPr>
        <p:txBody>
          <a:bodyPr wrap="none" lIns="0" tIns="0" rIns="0" bIns="0" rtlCol="0" anchor="ctr">
            <a:spAutoFit/>
          </a:bodyPr>
          <a:lstStyle/>
          <a:p>
            <a:pPr algn="ctr" indent="0" marL="0">
              <a:buNone/>
            </a:pPr>
            <a:r>
              <a:rPr lang="en-US" sz="1000" b="1" dirty="0">
                <a:solidFill>
                  <a:srgbClr val="F7F3ED"/>
                </a:solidFill>
                <a:latin typeface="Arial" pitchFamily="34" charset="0"/>
                <a:ea typeface="Arial" pitchFamily="34" charset="-122"/>
                <a:cs typeface="Arial" pitchFamily="34" charset="-120"/>
              </a:rPr>
              <a:t>3</a:t>
            </a:r>
            <a:endParaRPr lang="en-US" sz="1000" dirty="0"/>
          </a:p>
        </p:txBody>
      </p:sp>
      <p:sp>
        <p:nvSpPr>
          <p:cNvPr id="22" name="Text 18"/>
          <p:cNvSpPr/>
          <p:nvPr/>
        </p:nvSpPr>
        <p:spPr>
          <a:xfrm>
            <a:off x="4743450" y="2278856"/>
            <a:ext cx="1571625" cy="172510"/>
          </a:xfrm>
          <a:prstGeom prst="rect">
            <a:avLst/>
          </a:prstGeom>
          <a:noFill/>
          <a:ln/>
        </p:spPr>
        <p:txBody>
          <a:bodyPr wrap="none" lIns="0" tIns="0" rIns="0" bIns="0" rtlCol="0" anchor="t">
            <a:spAutoFit/>
          </a:bodyPr>
          <a:lstStyle/>
          <a:p>
            <a:pPr algn="l" indent="0" marL="0">
              <a:lnSpc>
                <a:spcPct val="84000"/>
              </a:lnSpc>
              <a:buNone/>
            </a:pPr>
            <a:r>
              <a:rPr lang="en-US" sz="1150" b="1" spc="-1" kern="0" dirty="0">
                <a:solidFill>
                  <a:srgbClr val="003049"/>
                </a:solidFill>
                <a:latin typeface="Arial" pitchFamily="34" charset="0"/>
                <a:ea typeface="Arial" pitchFamily="34" charset="-122"/>
                <a:cs typeface="Arial" pitchFamily="34" charset="-120"/>
              </a:rPr>
              <a:t>Advanced DNS</a:t>
            </a:r>
            <a:endParaRPr lang="en-US" sz="1150" dirty="0"/>
          </a:p>
        </p:txBody>
      </p:sp>
      <p:sp>
        <p:nvSpPr>
          <p:cNvPr id="23" name="Text 19"/>
          <p:cNvSpPr/>
          <p:nvPr/>
        </p:nvSpPr>
        <p:spPr>
          <a:xfrm>
            <a:off x="4743450" y="2522804"/>
            <a:ext cx="1585913" cy="462781"/>
          </a:xfrm>
          <a:prstGeom prst="rect">
            <a:avLst/>
          </a:prstGeom>
          <a:noFill/>
          <a:ln/>
        </p:spPr>
        <p:txBody>
          <a:bodyPr wrap="square" lIns="0" tIns="0" rIns="0" bIns="0" rtlCol="0" anchor="t">
            <a:spAutoFit/>
          </a:bodyPr>
          <a:lstStyle/>
          <a:p>
            <a:pPr algn="l" indent="0" marL="0">
              <a:lnSpc>
                <a:spcPct val="108000"/>
              </a:lnSpc>
              <a:buNone/>
            </a:pPr>
            <a:r>
              <a:rPr lang="en-US" sz="850" dirty="0">
                <a:solidFill>
                  <a:srgbClr val="42515A"/>
                </a:solidFill>
                <a:latin typeface="Arial" pitchFamily="34" charset="0"/>
                <a:ea typeface="Arial" pitchFamily="34" charset="-122"/>
                <a:cs typeface="Arial" pitchFamily="34" charset="-120"/>
              </a:rPr>
              <a:t>Select the tab that controls public DNS records and redirects.</a:t>
            </a:r>
            <a:endParaRPr lang="en-US" sz="850" dirty="0"/>
          </a:p>
        </p:txBody>
      </p:sp>
      <p:sp>
        <p:nvSpPr>
          <p:cNvPr id="24" name="Shape 20"/>
          <p:cNvSpPr/>
          <p:nvPr/>
        </p:nvSpPr>
        <p:spPr>
          <a:xfrm>
            <a:off x="6500813" y="1921669"/>
            <a:ext cx="342900" cy="14288"/>
          </a:xfrm>
          <a:prstGeom prst="rect">
            <a:avLst/>
          </a:prstGeom>
          <a:solidFill>
            <a:srgbClr val="7F9AA8"/>
          </a:solidFill>
          <a:ln/>
        </p:spPr>
      </p:sp>
      <p:sp>
        <p:nvSpPr>
          <p:cNvPr id="25" name="Shape 21"/>
          <p:cNvSpPr/>
          <p:nvPr/>
        </p:nvSpPr>
        <p:spPr>
          <a:xfrm>
            <a:off x="6779419" y="1893094"/>
            <a:ext cx="78581" cy="78581"/>
          </a:xfrm>
          <a:prstGeom prst="ellipse">
            <a:avLst/>
          </a:prstGeom>
          <a:solidFill>
            <a:srgbClr val="F77F00"/>
          </a:solidFill>
          <a:ln/>
        </p:spPr>
      </p:sp>
      <p:sp>
        <p:nvSpPr>
          <p:cNvPr id="26" name="Shape 22"/>
          <p:cNvSpPr/>
          <p:nvPr/>
        </p:nvSpPr>
        <p:spPr>
          <a:xfrm>
            <a:off x="6843713" y="1735931"/>
            <a:ext cx="385763" cy="385763"/>
          </a:xfrm>
          <a:prstGeom prst="ellipse">
            <a:avLst/>
          </a:prstGeom>
          <a:solidFill>
            <a:srgbClr val="003049"/>
          </a:solidFill>
          <a:ln/>
        </p:spPr>
      </p:sp>
      <p:sp>
        <p:nvSpPr>
          <p:cNvPr id="27" name="Text 23"/>
          <p:cNvSpPr/>
          <p:nvPr/>
        </p:nvSpPr>
        <p:spPr>
          <a:xfrm>
            <a:off x="6843713" y="1735931"/>
            <a:ext cx="385763" cy="385763"/>
          </a:xfrm>
          <a:prstGeom prst="rect">
            <a:avLst/>
          </a:prstGeom>
          <a:noFill/>
          <a:ln/>
        </p:spPr>
        <p:txBody>
          <a:bodyPr wrap="none" lIns="0" tIns="0" rIns="0" bIns="0" rtlCol="0" anchor="ctr">
            <a:spAutoFit/>
          </a:bodyPr>
          <a:lstStyle/>
          <a:p>
            <a:pPr algn="ctr" indent="0" marL="0">
              <a:buNone/>
            </a:pPr>
            <a:r>
              <a:rPr lang="en-US" sz="1000" b="1" dirty="0">
                <a:solidFill>
                  <a:srgbClr val="F7F3ED"/>
                </a:solidFill>
                <a:latin typeface="Arial" pitchFamily="34" charset="0"/>
                <a:ea typeface="Arial" pitchFamily="34" charset="-122"/>
                <a:cs typeface="Arial" pitchFamily="34" charset="-120"/>
              </a:rPr>
              <a:t>4</a:t>
            </a:r>
            <a:endParaRPr lang="en-US" sz="1000" dirty="0"/>
          </a:p>
        </p:txBody>
      </p:sp>
      <p:sp>
        <p:nvSpPr>
          <p:cNvPr id="28" name="Text 24"/>
          <p:cNvSpPr/>
          <p:nvPr/>
        </p:nvSpPr>
        <p:spPr>
          <a:xfrm>
            <a:off x="6843713" y="2278856"/>
            <a:ext cx="1571625" cy="172510"/>
          </a:xfrm>
          <a:prstGeom prst="rect">
            <a:avLst/>
          </a:prstGeom>
          <a:noFill/>
          <a:ln/>
        </p:spPr>
        <p:txBody>
          <a:bodyPr wrap="none" lIns="0" tIns="0" rIns="0" bIns="0" rtlCol="0" anchor="t">
            <a:spAutoFit/>
          </a:bodyPr>
          <a:lstStyle/>
          <a:p>
            <a:pPr algn="l" indent="0" marL="0">
              <a:lnSpc>
                <a:spcPct val="84000"/>
              </a:lnSpc>
              <a:buNone/>
            </a:pPr>
            <a:r>
              <a:rPr lang="en-US" sz="1150" b="1" spc="-1" kern="0" dirty="0">
                <a:solidFill>
                  <a:srgbClr val="003049"/>
                </a:solidFill>
                <a:latin typeface="Arial" pitchFamily="34" charset="0"/>
                <a:ea typeface="Arial" pitchFamily="34" charset="-122"/>
                <a:cs typeface="Arial" pitchFamily="34" charset="-120"/>
              </a:rPr>
              <a:t>Host Records</a:t>
            </a:r>
            <a:endParaRPr lang="en-US" sz="1150" dirty="0"/>
          </a:p>
        </p:txBody>
      </p:sp>
      <p:sp>
        <p:nvSpPr>
          <p:cNvPr id="29" name="Text 25"/>
          <p:cNvSpPr/>
          <p:nvPr/>
        </p:nvSpPr>
        <p:spPr>
          <a:xfrm>
            <a:off x="6843713" y="2522804"/>
            <a:ext cx="1585913" cy="462781"/>
          </a:xfrm>
          <a:prstGeom prst="rect">
            <a:avLst/>
          </a:prstGeom>
          <a:noFill/>
          <a:ln/>
        </p:spPr>
        <p:txBody>
          <a:bodyPr wrap="square" lIns="0" tIns="0" rIns="0" bIns="0" rtlCol="0" anchor="t">
            <a:spAutoFit/>
          </a:bodyPr>
          <a:lstStyle/>
          <a:p>
            <a:pPr algn="l" indent="0" marL="0">
              <a:lnSpc>
                <a:spcPct val="108000"/>
              </a:lnSpc>
              <a:buNone/>
            </a:pPr>
            <a:r>
              <a:rPr lang="en-US" sz="850" dirty="0">
                <a:solidFill>
                  <a:srgbClr val="42515A"/>
                </a:solidFill>
                <a:latin typeface="Arial" pitchFamily="34" charset="0"/>
                <a:ea typeface="Arial" pitchFamily="34" charset="-122"/>
                <a:cs typeface="Arial" pitchFamily="34" charset="-120"/>
              </a:rPr>
              <a:t>Use </a:t>
            </a:r>
            <a:r>
              <a:rPr lang="en-US" sz="800" b="1" dirty="0">
                <a:solidFill>
                  <a:srgbClr val="42515A"/>
                </a:solidFill>
                <a:latin typeface="Arial" pitchFamily="34" charset="0"/>
                <a:ea typeface="Arial" pitchFamily="34" charset="-122"/>
                <a:cs typeface="Arial" pitchFamily="34" charset="-120"/>
              </a:rPr>
              <a:t>Add New Record</a:t>
            </a:r>
            <a:r>
              <a:rPr lang="en-US" sz="850" dirty="0">
                <a:solidFill>
                  <a:srgbClr val="42515A"/>
                </a:solidFill>
                <a:latin typeface="Arial" pitchFamily="34" charset="0"/>
                <a:ea typeface="Arial" pitchFamily="34" charset="-122"/>
                <a:cs typeface="Arial" pitchFamily="34" charset="-120"/>
              </a:rPr>
              <a:t> to </a:t>
            </a:r>
            <a:r>
              <a:rPr lang="en-US" sz="850" dirty="0">
                <a:solidFill>
                  <a:srgbClr val="42515A"/>
                </a:solidFill>
                <a:latin typeface="Arial" pitchFamily="34" charset="0"/>
                <a:ea typeface="Arial" pitchFamily="34" charset="-122"/>
                <a:cs typeface="Arial" pitchFamily="34" charset="-120"/>
              </a:rPr>
              <a:t>create the GitHub Pages </a:t>
            </a:r>
            <a:r>
              <a:rPr lang="en-US" sz="850" dirty="0">
                <a:solidFill>
                  <a:srgbClr val="42515A"/>
                </a:solidFill>
                <a:latin typeface="Arial" pitchFamily="34" charset="0"/>
                <a:ea typeface="Arial" pitchFamily="34" charset="-122"/>
                <a:cs typeface="Arial" pitchFamily="34" charset="-120"/>
              </a:rPr>
              <a:t>entries.</a:t>
            </a:r>
            <a:endParaRPr lang="en-US" sz="850" dirty="0"/>
          </a:p>
        </p:txBody>
      </p:sp>
      <p:sp>
        <p:nvSpPr>
          <p:cNvPr id="30" name="Shape 26"/>
          <p:cNvSpPr/>
          <p:nvPr/>
        </p:nvSpPr>
        <p:spPr>
          <a:xfrm>
            <a:off x="542925" y="3350419"/>
            <a:ext cx="8058150" cy="1057275"/>
          </a:xfrm>
          <a:prstGeom prst="rect">
            <a:avLst/>
          </a:prstGeom>
          <a:solidFill>
            <a:srgbClr val="003049"/>
          </a:solidFill>
          <a:ln/>
        </p:spPr>
      </p:sp>
      <p:sp>
        <p:nvSpPr>
          <p:cNvPr id="31" name="Text 27"/>
          <p:cNvSpPr/>
          <p:nvPr/>
        </p:nvSpPr>
        <p:spPr>
          <a:xfrm>
            <a:off x="542925" y="3350419"/>
            <a:ext cx="1357313" cy="1057275"/>
          </a:xfrm>
          <a:prstGeom prst="rect">
            <a:avLst/>
          </a:prstGeom>
          <a:noFill/>
          <a:ln/>
        </p:spPr>
        <p:txBody>
          <a:bodyPr wrap="square" lIns="272161" tIns="263652" rIns="0" bIns="0" rtlCol="0" anchor="t">
            <a:spAutoFit/>
          </a:bodyPr>
          <a:lstStyle/>
          <a:p>
            <a:pPr algn="l" indent="0" marL="0">
              <a:buNone/>
            </a:pPr>
            <a:r>
              <a:rPr lang="en-US" sz="800" b="1" spc="1" kern="0" dirty="0">
                <a:solidFill>
                  <a:srgbClr val="F77F00"/>
                </a:solidFill>
                <a:latin typeface="Arial" pitchFamily="34" charset="0"/>
                <a:ea typeface="Arial" pitchFamily="34" charset="-122"/>
                <a:cs typeface="Arial" pitchFamily="34" charset="-120"/>
              </a:rPr>
              <a:t>BEFORE SAVING</a:t>
            </a:r>
            <a:endParaRPr lang="en-US" sz="800" dirty="0"/>
          </a:p>
        </p:txBody>
      </p:sp>
      <p:sp>
        <p:nvSpPr>
          <p:cNvPr id="32" name="Text 28"/>
          <p:cNvSpPr/>
          <p:nvPr/>
        </p:nvSpPr>
        <p:spPr>
          <a:xfrm>
            <a:off x="1928813" y="3543300"/>
            <a:ext cx="6386513" cy="214313"/>
          </a:xfrm>
          <a:prstGeom prst="rect">
            <a:avLst/>
          </a:prstGeom>
          <a:noFill/>
          <a:ln/>
        </p:spPr>
        <p:txBody>
          <a:bodyPr wrap="square" lIns="0" tIns="0" rIns="0" bIns="0" rtlCol="0" anchor="t">
            <a:spAutoFit/>
          </a:bodyPr>
          <a:lstStyle/>
          <a:p>
            <a:pPr algn="l" indent="0" marL="0">
              <a:buNone/>
            </a:pPr>
            <a:r>
              <a:rPr lang="en-US" sz="1300" b="1" spc="-1" kern="0" dirty="0">
                <a:solidFill>
                  <a:srgbClr val="F7F3ED"/>
                </a:solidFill>
                <a:latin typeface="Arial" pitchFamily="34" charset="0"/>
                <a:ea typeface="Arial" pitchFamily="34" charset="-122"/>
                <a:cs typeface="Arial" pitchFamily="34" charset="-120"/>
              </a:rPr>
              <a:t>Clear conflicts for the same host</a:t>
            </a:r>
            <a:endParaRPr lang="en-US" sz="1300" dirty="0"/>
          </a:p>
        </p:txBody>
      </p:sp>
      <p:sp>
        <p:nvSpPr>
          <p:cNvPr id="33" name="Text 29"/>
          <p:cNvSpPr/>
          <p:nvPr/>
        </p:nvSpPr>
        <p:spPr>
          <a:xfrm>
            <a:off x="1928813" y="3836194"/>
            <a:ext cx="6386513" cy="344798"/>
          </a:xfrm>
          <a:prstGeom prst="rect">
            <a:avLst/>
          </a:prstGeom>
          <a:noFill/>
          <a:ln/>
        </p:spPr>
        <p:txBody>
          <a:bodyPr wrap="square" lIns="0" tIns="0" rIns="0" bIns="0" rtlCol="0" anchor="t">
            <a:spAutoFit/>
          </a:bodyPr>
          <a:lstStyle/>
          <a:p>
            <a:pPr algn="l" indent="0" marL="0">
              <a:lnSpc>
                <a:spcPct val="113600"/>
              </a:lnSpc>
              <a:buNone/>
            </a:pPr>
            <a:r>
              <a:rPr lang="en-US" sz="900" dirty="0">
                <a:solidFill>
                  <a:srgbClr val="C7D8E0"/>
                </a:solidFill>
                <a:latin typeface="Arial" pitchFamily="34" charset="0"/>
                <a:ea typeface="Arial" pitchFamily="34" charset="-122"/>
                <a:cs typeface="Arial" pitchFamily="34" charset="-120"/>
              </a:rPr>
              <a:t>Remove an old </a:t>
            </a:r>
            <a:r>
              <a:rPr lang="en-US" sz="850" b="1" dirty="0">
                <a:solidFill>
                  <a:srgbClr val="F77F00"/>
                </a:solidFill>
                <a:latin typeface="Arial" pitchFamily="34" charset="0"/>
                <a:ea typeface="Arial" pitchFamily="34" charset="-122"/>
                <a:cs typeface="Arial" pitchFamily="34" charset="-120"/>
              </a:rPr>
              <a:t>URL Redirect</a:t>
            </a:r>
            <a:r>
              <a:rPr lang="en-US" sz="900" dirty="0">
                <a:solidFill>
                  <a:srgbClr val="C7D8E0"/>
                </a:solidFill>
                <a:latin typeface="Arial" pitchFamily="34" charset="0"/>
                <a:ea typeface="Arial" pitchFamily="34" charset="-122"/>
                <a:cs typeface="Arial" pitchFamily="34" charset="-120"/>
              </a:rPr>
              <a:t>, an extra </a:t>
            </a:r>
            <a:r>
              <a:rPr lang="en-US" sz="850" b="1" dirty="0">
                <a:solidFill>
                  <a:srgbClr val="F77F00"/>
                </a:solidFill>
                <a:latin typeface="Arial" pitchFamily="34" charset="0"/>
                <a:ea typeface="Arial" pitchFamily="34" charset="-122"/>
                <a:cs typeface="Arial" pitchFamily="34" charset="-120"/>
              </a:rPr>
              <a:t>A record for @</a:t>
            </a:r>
            <a:r>
              <a:rPr lang="en-US" sz="900" dirty="0">
                <a:solidFill>
                  <a:srgbClr val="C7D8E0"/>
                </a:solidFill>
                <a:latin typeface="Arial" pitchFamily="34" charset="0"/>
                <a:ea typeface="Arial" pitchFamily="34" charset="-122"/>
                <a:cs typeface="Arial" pitchFamily="34" charset="-120"/>
              </a:rPr>
              <a:t>, or a conflicting </a:t>
            </a:r>
            <a:r>
              <a:rPr lang="en-US" sz="850" b="1" dirty="0">
                <a:solidFill>
                  <a:srgbClr val="F77F00"/>
                </a:solidFill>
                <a:latin typeface="Arial" pitchFamily="34" charset="0"/>
                <a:ea typeface="Arial" pitchFamily="34" charset="-122"/>
                <a:cs typeface="Arial" pitchFamily="34" charset="-120"/>
              </a:rPr>
              <a:t>CNAME</a:t>
            </a:r>
            <a:r>
              <a:rPr lang="en-US" sz="900" dirty="0">
                <a:solidFill>
                  <a:srgbClr val="C7D8E0"/>
                </a:solidFill>
                <a:latin typeface="Arial" pitchFamily="34" charset="0"/>
                <a:ea typeface="Arial" pitchFamily="34" charset="-122"/>
                <a:cs typeface="Arial" pitchFamily="34" charset="-120"/>
              </a:rPr>
              <a:t> before adding the GitHub Pages </a:t>
            </a:r>
            <a:r>
              <a:rPr lang="en-US" sz="900" dirty="0">
                <a:solidFill>
                  <a:srgbClr val="C7D8E0"/>
                </a:solidFill>
                <a:latin typeface="Arial" pitchFamily="34" charset="0"/>
                <a:ea typeface="Arial" pitchFamily="34" charset="-122"/>
                <a:cs typeface="Arial" pitchFamily="34" charset="-120"/>
              </a:rPr>
              <a:t>records. Competing records can prevent routing and certificate issuance.</a:t>
            </a:r>
            <a:endParaRPr lang="en-US" sz="900" dirty="0"/>
          </a:p>
        </p:txBody>
      </p:sp>
      <p:sp>
        <p:nvSpPr>
          <p:cNvPr id="34" name="Text 30"/>
          <p:cNvSpPr/>
          <p:nvPr/>
        </p:nvSpPr>
        <p:spPr>
          <a:xfrm>
            <a:off x="1128713" y="4543425"/>
            <a:ext cx="7472363" cy="100013"/>
          </a:xfrm>
          <a:prstGeom prst="rect">
            <a:avLst/>
          </a:prstGeom>
          <a:noFill/>
          <a:ln/>
        </p:spPr>
        <p:txBody>
          <a:bodyPr wrap="square" lIns="0" tIns="0" rIns="0" bIns="0" rtlCol="0" anchor="t">
            <a:spAutoFit/>
          </a:bodyPr>
          <a:lstStyle/>
          <a:p>
            <a:pPr algn="l" indent="0" marL="0">
              <a:buNone/>
            </a:pPr>
            <a:r>
              <a:rPr lang="en-US" sz="600" b="1" dirty="0">
                <a:solidFill>
                  <a:srgbClr val="61757F"/>
                </a:solidFill>
                <a:latin typeface="Arial" pitchFamily="34" charset="0"/>
                <a:ea typeface="Arial" pitchFamily="34" charset="-122"/>
                <a:cs typeface="Arial" pitchFamily="34" charset="-120"/>
              </a:rPr>
              <a:t>[3] Namecheap Knowledgebase — Link a domain to GitHub Pages</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42925" y="400050"/>
            <a:ext cx="414338" cy="414338"/>
          </a:xfrm>
          <a:prstGeom prst="ellipse">
            <a:avLst/>
          </a:prstGeom>
          <a:solidFill>
            <a:srgbClr val="F77F00"/>
          </a:solidFill>
          <a:ln/>
        </p:spPr>
      </p:sp>
      <p:sp>
        <p:nvSpPr>
          <p:cNvPr id="5" name="Text 1"/>
          <p:cNvSpPr/>
          <p:nvPr/>
        </p:nvSpPr>
        <p:spPr>
          <a:xfrm>
            <a:off x="542925" y="400050"/>
            <a:ext cx="414338" cy="414338"/>
          </a:xfrm>
          <a:prstGeom prst="rect">
            <a:avLst/>
          </a:prstGeom>
          <a:noFill/>
          <a:ln/>
        </p:spPr>
        <p:txBody>
          <a:bodyPr wrap="none" lIns="0" tIns="0" rIns="0" bIns="0" rtlCol="0" anchor="ctr">
            <a:spAutoFit/>
          </a:bodyPr>
          <a:lstStyle/>
          <a:p>
            <a:pPr algn="ctr" indent="0" marL="0">
              <a:buNone/>
            </a:pPr>
            <a:r>
              <a:rPr lang="en-US" sz="1150" b="1" dirty="0">
                <a:solidFill>
                  <a:srgbClr val="003049"/>
                </a:solidFill>
                <a:latin typeface="Arial" pitchFamily="34" charset="0"/>
                <a:ea typeface="Arial" pitchFamily="34" charset="-122"/>
                <a:cs typeface="Arial" pitchFamily="34" charset="-120"/>
              </a:rPr>
              <a:t>04</a:t>
            </a:r>
            <a:endParaRPr lang="en-US" sz="1150" dirty="0"/>
          </a:p>
        </p:txBody>
      </p:sp>
      <p:sp>
        <p:nvSpPr>
          <p:cNvPr id="6" name="Text 2"/>
          <p:cNvSpPr/>
          <p:nvPr/>
        </p:nvSpPr>
        <p:spPr>
          <a:xfrm>
            <a:off x="1128713" y="435769"/>
            <a:ext cx="3893009" cy="342900"/>
          </a:xfrm>
          <a:prstGeom prst="rect">
            <a:avLst/>
          </a:prstGeom>
          <a:noFill/>
          <a:ln/>
        </p:spPr>
        <p:txBody>
          <a:bodyPr wrap="none" lIns="0" tIns="0" rIns="0" bIns="0" rtlCol="0" anchor="t">
            <a:spAutoFit/>
          </a:bodyPr>
          <a:lstStyle/>
          <a:p>
            <a:pPr algn="l" indent="0" marL="0">
              <a:lnSpc>
                <a:spcPct val="80000"/>
              </a:lnSpc>
              <a:buNone/>
            </a:pPr>
            <a:r>
              <a:rPr lang="en-US" sz="2450" b="1" spc="-2" kern="0" dirty="0">
                <a:solidFill>
                  <a:srgbClr val="003049"/>
                </a:solidFill>
                <a:latin typeface="Arial" pitchFamily="34" charset="0"/>
                <a:ea typeface="Arial" pitchFamily="34" charset="-122"/>
                <a:cs typeface="Arial" pitchFamily="34" charset="-120"/>
              </a:rPr>
              <a:t>Add the four apex records</a:t>
            </a:r>
            <a:endParaRPr lang="en-US" sz="2450" dirty="0"/>
          </a:p>
        </p:txBody>
      </p:sp>
      <p:sp>
        <p:nvSpPr>
          <p:cNvPr id="7" name="Text 3"/>
          <p:cNvSpPr/>
          <p:nvPr/>
        </p:nvSpPr>
        <p:spPr>
          <a:xfrm>
            <a:off x="1128713" y="928688"/>
            <a:ext cx="6072188" cy="394246"/>
          </a:xfrm>
          <a:prstGeom prst="rect">
            <a:avLst/>
          </a:prstGeom>
          <a:noFill/>
          <a:ln/>
        </p:spPr>
        <p:txBody>
          <a:bodyPr wrap="square" lIns="0" tIns="0" rIns="0" bIns="0" rtlCol="0" anchor="t">
            <a:spAutoFit/>
          </a:bodyPr>
          <a:lstStyle/>
          <a:p>
            <a:pPr algn="l" indent="0" marL="0">
              <a:lnSpc>
                <a:spcPct val="110400"/>
              </a:lnSpc>
              <a:buNone/>
            </a:pPr>
            <a:r>
              <a:rPr lang="en-US" sz="1050" dirty="0">
                <a:solidFill>
                  <a:srgbClr val="42515A"/>
                </a:solidFill>
                <a:latin typeface="Arial" pitchFamily="34" charset="0"/>
                <a:ea typeface="Arial" pitchFamily="34" charset="-122"/>
                <a:cs typeface="Arial" pitchFamily="34" charset="-120"/>
              </a:rPr>
              <a:t>In Namecheap Advanced DNS, point the root host </a:t>
            </a:r>
            <a:r>
              <a:rPr lang="en-US" sz="1000" b="1" dirty="0">
                <a:solidFill>
                  <a:srgbClr val="42515A"/>
                </a:solidFill>
                <a:latin typeface="Arial" pitchFamily="34" charset="0"/>
                <a:ea typeface="Arial" pitchFamily="34" charset="-122"/>
                <a:cs typeface="Arial" pitchFamily="34" charset="-120"/>
              </a:rPr>
              <a:t>@</a:t>
            </a:r>
            <a:r>
              <a:rPr lang="en-US" sz="1050" dirty="0">
                <a:solidFill>
                  <a:srgbClr val="42515A"/>
                </a:solidFill>
                <a:latin typeface="Arial" pitchFamily="34" charset="0"/>
                <a:ea typeface="Arial" pitchFamily="34" charset="-122"/>
                <a:cs typeface="Arial" pitchFamily="34" charset="-120"/>
              </a:rPr>
              <a:t> to all four GitHub Pages IPv4 endpoints. </a:t>
            </a:r>
            <a:r>
              <a:rPr lang="en-US" sz="1050" dirty="0">
                <a:solidFill>
                  <a:srgbClr val="42515A"/>
                </a:solidFill>
                <a:latin typeface="Arial" pitchFamily="34" charset="0"/>
                <a:ea typeface="Arial" pitchFamily="34" charset="-122"/>
                <a:cs typeface="Arial" pitchFamily="34" charset="-120"/>
              </a:rPr>
              <a:t>Use </a:t>
            </a:r>
            <a:r>
              <a:rPr lang="en-US" sz="1000" b="1" dirty="0">
                <a:solidFill>
                  <a:srgbClr val="42515A"/>
                </a:solidFill>
                <a:latin typeface="Arial" pitchFamily="34" charset="0"/>
                <a:ea typeface="Arial" pitchFamily="34" charset="-122"/>
                <a:cs typeface="Arial" pitchFamily="34" charset="-120"/>
              </a:rPr>
              <a:t>Automatic</a:t>
            </a:r>
            <a:r>
              <a:rPr lang="en-US" sz="1050" dirty="0">
                <a:solidFill>
                  <a:srgbClr val="42515A"/>
                </a:solidFill>
                <a:latin typeface="Arial" pitchFamily="34" charset="0"/>
                <a:ea typeface="Arial" pitchFamily="34" charset="-122"/>
                <a:cs typeface="Arial" pitchFamily="34" charset="-120"/>
              </a:rPr>
              <a:t> TTL for each record.</a:t>
            </a:r>
            <a:endParaRPr lang="en-US" sz="1050" dirty="0"/>
          </a:p>
        </p:txBody>
      </p:sp>
      <p:sp>
        <p:nvSpPr>
          <p:cNvPr id="8" name="Shape 4"/>
          <p:cNvSpPr/>
          <p:nvPr/>
        </p:nvSpPr>
        <p:spPr>
          <a:xfrm>
            <a:off x="1128713" y="1694408"/>
            <a:ext cx="7472363" cy="2350294"/>
          </a:xfrm>
          <a:prstGeom prst="rect">
            <a:avLst/>
          </a:prstGeom>
          <a:solidFill>
            <a:srgbClr val="000000">
              <a:alpha val="0"/>
            </a:srgbClr>
          </a:solidFill>
          <a:ln/>
        </p:spPr>
      </p:sp>
      <p:sp>
        <p:nvSpPr>
          <p:cNvPr id="9" name="Shape 5"/>
          <p:cNvSpPr/>
          <p:nvPr/>
        </p:nvSpPr>
        <p:spPr>
          <a:xfrm>
            <a:off x="1128713" y="1694408"/>
            <a:ext cx="7472363" cy="21431"/>
          </a:xfrm>
          <a:prstGeom prst="rect">
            <a:avLst/>
          </a:prstGeom>
          <a:solidFill>
            <a:srgbClr val="003049"/>
          </a:solidFill>
          <a:ln/>
        </p:spPr>
      </p:sp>
      <p:sp>
        <p:nvSpPr>
          <p:cNvPr id="10" name="Text 6"/>
          <p:cNvSpPr/>
          <p:nvPr/>
        </p:nvSpPr>
        <p:spPr>
          <a:xfrm>
            <a:off x="1128713" y="1826568"/>
            <a:ext cx="1321594" cy="114300"/>
          </a:xfrm>
          <a:prstGeom prst="rect">
            <a:avLst/>
          </a:prstGeom>
          <a:noFill/>
          <a:ln/>
        </p:spPr>
        <p:txBody>
          <a:bodyPr wrap="square" lIns="0" tIns="0" rIns="0" bIns="0" rtlCol="0" anchor="t">
            <a:spAutoFit/>
          </a:bodyPr>
          <a:lstStyle/>
          <a:p>
            <a:pPr algn="l" indent="0" marL="0">
              <a:buNone/>
            </a:pPr>
            <a:r>
              <a:rPr lang="en-US" sz="700" b="1" spc="1" kern="0" dirty="0">
                <a:solidFill>
                  <a:srgbClr val="003049"/>
                </a:solidFill>
                <a:latin typeface="Arial" pitchFamily="34" charset="0"/>
                <a:ea typeface="Arial" pitchFamily="34" charset="-122"/>
                <a:cs typeface="Arial" pitchFamily="34" charset="-120"/>
              </a:rPr>
              <a:t>TYPE</a:t>
            </a:r>
            <a:endParaRPr lang="en-US" sz="700" dirty="0"/>
          </a:p>
        </p:txBody>
      </p:sp>
      <p:sp>
        <p:nvSpPr>
          <p:cNvPr id="11" name="Text 7"/>
          <p:cNvSpPr/>
          <p:nvPr/>
        </p:nvSpPr>
        <p:spPr>
          <a:xfrm>
            <a:off x="2450306" y="1826568"/>
            <a:ext cx="1357313" cy="114300"/>
          </a:xfrm>
          <a:prstGeom prst="rect">
            <a:avLst/>
          </a:prstGeom>
          <a:noFill/>
          <a:ln/>
        </p:spPr>
        <p:txBody>
          <a:bodyPr wrap="square" lIns="0" tIns="0" rIns="0" bIns="0" rtlCol="0" anchor="t">
            <a:spAutoFit/>
          </a:bodyPr>
          <a:lstStyle/>
          <a:p>
            <a:pPr algn="l" indent="0" marL="0">
              <a:buNone/>
            </a:pPr>
            <a:r>
              <a:rPr lang="en-US" sz="700" b="1" spc="1" kern="0" dirty="0">
                <a:solidFill>
                  <a:srgbClr val="003049"/>
                </a:solidFill>
                <a:latin typeface="Arial" pitchFamily="34" charset="0"/>
                <a:ea typeface="Arial" pitchFamily="34" charset="-122"/>
                <a:cs typeface="Arial" pitchFamily="34" charset="-120"/>
              </a:rPr>
              <a:t>HOST</a:t>
            </a:r>
            <a:endParaRPr lang="en-US" sz="700" dirty="0"/>
          </a:p>
        </p:txBody>
      </p:sp>
      <p:sp>
        <p:nvSpPr>
          <p:cNvPr id="12" name="Text 8"/>
          <p:cNvSpPr/>
          <p:nvPr/>
        </p:nvSpPr>
        <p:spPr>
          <a:xfrm>
            <a:off x="3807619" y="1826568"/>
            <a:ext cx="3686175" cy="114300"/>
          </a:xfrm>
          <a:prstGeom prst="rect">
            <a:avLst/>
          </a:prstGeom>
          <a:noFill/>
          <a:ln/>
        </p:spPr>
        <p:txBody>
          <a:bodyPr wrap="square" lIns="0" tIns="0" rIns="0" bIns="0" rtlCol="0" anchor="t">
            <a:spAutoFit/>
          </a:bodyPr>
          <a:lstStyle/>
          <a:p>
            <a:pPr algn="l" indent="0" marL="0">
              <a:buNone/>
            </a:pPr>
            <a:r>
              <a:rPr lang="en-US" sz="700" b="1" spc="1" kern="0" dirty="0">
                <a:solidFill>
                  <a:srgbClr val="003049"/>
                </a:solidFill>
                <a:latin typeface="Arial" pitchFamily="34" charset="0"/>
                <a:ea typeface="Arial" pitchFamily="34" charset="-122"/>
                <a:cs typeface="Arial" pitchFamily="34" charset="-120"/>
              </a:rPr>
              <a:t>VALUE</a:t>
            </a:r>
            <a:endParaRPr lang="en-US" sz="700" dirty="0"/>
          </a:p>
        </p:txBody>
      </p:sp>
      <p:sp>
        <p:nvSpPr>
          <p:cNvPr id="13" name="Text 9"/>
          <p:cNvSpPr/>
          <p:nvPr/>
        </p:nvSpPr>
        <p:spPr>
          <a:xfrm>
            <a:off x="7493794" y="1826568"/>
            <a:ext cx="1107281" cy="114300"/>
          </a:xfrm>
          <a:prstGeom prst="rect">
            <a:avLst/>
          </a:prstGeom>
          <a:noFill/>
          <a:ln/>
        </p:spPr>
        <p:txBody>
          <a:bodyPr wrap="none" lIns="0" tIns="0" rIns="0" bIns="0" rtlCol="0" anchor="t">
            <a:spAutoFit/>
          </a:bodyPr>
          <a:lstStyle/>
          <a:p>
            <a:pPr algn="l" indent="0" marL="0">
              <a:buNone/>
            </a:pPr>
            <a:r>
              <a:rPr lang="en-US" sz="700" b="1" spc="1" kern="0" dirty="0">
                <a:solidFill>
                  <a:srgbClr val="003049"/>
                </a:solidFill>
                <a:latin typeface="Arial" pitchFamily="34" charset="0"/>
                <a:ea typeface="Arial" pitchFamily="34" charset="-122"/>
                <a:cs typeface="Arial" pitchFamily="34" charset="-120"/>
              </a:rPr>
              <a:t>TTL</a:t>
            </a:r>
            <a:endParaRPr lang="en-US" sz="700" dirty="0"/>
          </a:p>
        </p:txBody>
      </p:sp>
      <p:sp>
        <p:nvSpPr>
          <p:cNvPr id="14" name="Text 10"/>
          <p:cNvSpPr/>
          <p:nvPr/>
        </p:nvSpPr>
        <p:spPr>
          <a:xfrm>
            <a:off x="1128713" y="2244477"/>
            <a:ext cx="1321594" cy="150019"/>
          </a:xfrm>
          <a:prstGeom prst="rect">
            <a:avLst/>
          </a:prstGeom>
          <a:noFill/>
          <a:ln/>
        </p:spPr>
        <p:txBody>
          <a:bodyPr wrap="square" lIns="0" tIns="0" rIns="0" bIns="0" rtlCol="0" anchor="t">
            <a:spAutoFit/>
          </a:bodyPr>
          <a:lstStyle/>
          <a:p>
            <a:pPr algn="l" indent="0" marL="0">
              <a:buNone/>
            </a:pPr>
            <a:r>
              <a:rPr lang="en-US" sz="900" b="1" dirty="0">
                <a:solidFill>
                  <a:srgbClr val="C45600"/>
                </a:solidFill>
                <a:latin typeface="Arial" pitchFamily="34" charset="0"/>
                <a:ea typeface="Arial" pitchFamily="34" charset="-122"/>
                <a:cs typeface="Arial" pitchFamily="34" charset="-120"/>
              </a:rPr>
              <a:t>A Record</a:t>
            </a:r>
            <a:endParaRPr lang="en-US" sz="900" dirty="0"/>
          </a:p>
        </p:txBody>
      </p:sp>
      <p:sp>
        <p:nvSpPr>
          <p:cNvPr id="15" name="Text 11"/>
          <p:cNvSpPr/>
          <p:nvPr/>
        </p:nvSpPr>
        <p:spPr>
          <a:xfrm>
            <a:off x="2450306" y="2244477"/>
            <a:ext cx="1357313" cy="150019"/>
          </a:xfrm>
          <a:prstGeom prst="rect">
            <a:avLst/>
          </a:prstGeom>
          <a:noFill/>
          <a:ln/>
        </p:spPr>
        <p:txBody>
          <a:bodyPr wrap="square" lIns="0" tIns="0" rIns="0" bIns="0" rtlCol="0" anchor="t">
            <a:spAutoFit/>
          </a:bodyPr>
          <a:lstStyle/>
          <a:p>
            <a:pPr algn="l" indent="0" marL="0">
              <a:buNone/>
            </a:pPr>
            <a:r>
              <a:rPr lang="en-US" sz="900" b="1" dirty="0">
                <a:solidFill>
                  <a:srgbClr val="003049"/>
                </a:solidFill>
                <a:latin typeface="Arial" pitchFamily="34" charset="0"/>
                <a:ea typeface="Arial" pitchFamily="34" charset="-122"/>
                <a:cs typeface="Arial" pitchFamily="34" charset="-120"/>
              </a:rPr>
              <a:t>@</a:t>
            </a:r>
            <a:endParaRPr lang="en-US" sz="900" dirty="0"/>
          </a:p>
        </p:txBody>
      </p:sp>
      <p:sp>
        <p:nvSpPr>
          <p:cNvPr id="16" name="Text 12"/>
          <p:cNvSpPr/>
          <p:nvPr/>
        </p:nvSpPr>
        <p:spPr>
          <a:xfrm>
            <a:off x="3807619" y="2230189"/>
            <a:ext cx="3686175" cy="178594"/>
          </a:xfrm>
          <a:prstGeom prst="rect">
            <a:avLst/>
          </a:prstGeom>
          <a:noFill/>
          <a:ln/>
        </p:spPr>
        <p:txBody>
          <a:bodyPr wrap="square" lIns="0" tIns="0" rIns="0" bIns="0" rtlCol="0" anchor="t">
            <a:spAutoFit/>
          </a:bodyPr>
          <a:lstStyle/>
          <a:p>
            <a:pPr algn="l" indent="0" marL="0">
              <a:buNone/>
            </a:pPr>
            <a:r>
              <a:rPr lang="en-US" sz="1100" b="1" dirty="0">
                <a:solidFill>
                  <a:srgbClr val="003049"/>
                </a:solidFill>
                <a:latin typeface="Courier New" pitchFamily="34" charset="0"/>
                <a:ea typeface="Courier New" pitchFamily="34" charset="-122"/>
                <a:cs typeface="Courier New" pitchFamily="34" charset="-120"/>
              </a:rPr>
              <a:t>185.199.108.153</a:t>
            </a:r>
            <a:endParaRPr lang="en-US" sz="1100" dirty="0"/>
          </a:p>
        </p:txBody>
      </p:sp>
      <p:sp>
        <p:nvSpPr>
          <p:cNvPr id="17" name="Text 13"/>
          <p:cNvSpPr/>
          <p:nvPr/>
        </p:nvSpPr>
        <p:spPr>
          <a:xfrm>
            <a:off x="7493794" y="2244477"/>
            <a:ext cx="1107281" cy="150019"/>
          </a:xfrm>
          <a:prstGeom prst="rect">
            <a:avLst/>
          </a:prstGeom>
          <a:noFill/>
          <a:ln/>
        </p:spPr>
        <p:txBody>
          <a:bodyPr wrap="none" lIns="0" tIns="0" rIns="0" bIns="0" rtlCol="0" anchor="t">
            <a:spAutoFit/>
          </a:bodyPr>
          <a:lstStyle/>
          <a:p>
            <a:pPr algn="l" indent="0" marL="0">
              <a:buNone/>
            </a:pPr>
            <a:r>
              <a:rPr lang="en-US" sz="900" b="1" dirty="0">
                <a:solidFill>
                  <a:srgbClr val="003049"/>
                </a:solidFill>
                <a:latin typeface="Arial" pitchFamily="34" charset="0"/>
                <a:ea typeface="Arial" pitchFamily="34" charset="-122"/>
                <a:cs typeface="Arial" pitchFamily="34" charset="-120"/>
              </a:rPr>
              <a:t>Automatic</a:t>
            </a:r>
            <a:endParaRPr lang="en-US" sz="900" dirty="0"/>
          </a:p>
        </p:txBody>
      </p:sp>
      <p:sp>
        <p:nvSpPr>
          <p:cNvPr id="18" name="Shape 14"/>
          <p:cNvSpPr/>
          <p:nvPr/>
        </p:nvSpPr>
        <p:spPr>
          <a:xfrm>
            <a:off x="1128713" y="2565946"/>
            <a:ext cx="7472363" cy="485775"/>
          </a:xfrm>
          <a:prstGeom prst="rect">
            <a:avLst/>
          </a:prstGeom>
          <a:solidFill>
            <a:srgbClr val="F7F3ED">
              <a:alpha val="37000"/>
            </a:srgbClr>
          </a:solidFill>
          <a:ln/>
        </p:spPr>
      </p:sp>
      <p:sp>
        <p:nvSpPr>
          <p:cNvPr id="19" name="Shape 15"/>
          <p:cNvSpPr/>
          <p:nvPr/>
        </p:nvSpPr>
        <p:spPr>
          <a:xfrm>
            <a:off x="1128713" y="3044577"/>
            <a:ext cx="7472363" cy="7144"/>
          </a:xfrm>
          <a:prstGeom prst="rect">
            <a:avLst/>
          </a:prstGeom>
          <a:solidFill>
            <a:srgbClr val="C2CDD3"/>
          </a:solidFill>
          <a:ln/>
        </p:spPr>
      </p:sp>
      <p:sp>
        <p:nvSpPr>
          <p:cNvPr id="20" name="Text 16"/>
          <p:cNvSpPr/>
          <p:nvPr/>
        </p:nvSpPr>
        <p:spPr>
          <a:xfrm>
            <a:off x="1128713" y="2733824"/>
            <a:ext cx="1321594" cy="150019"/>
          </a:xfrm>
          <a:prstGeom prst="rect">
            <a:avLst/>
          </a:prstGeom>
          <a:noFill/>
          <a:ln/>
        </p:spPr>
        <p:txBody>
          <a:bodyPr wrap="square" lIns="0" tIns="0" rIns="0" bIns="0" rtlCol="0" anchor="t">
            <a:spAutoFit/>
          </a:bodyPr>
          <a:lstStyle/>
          <a:p>
            <a:pPr algn="l" indent="0" marL="0">
              <a:buNone/>
            </a:pPr>
            <a:r>
              <a:rPr lang="en-US" sz="900" b="1" dirty="0">
                <a:solidFill>
                  <a:srgbClr val="C45600"/>
                </a:solidFill>
                <a:latin typeface="Arial" pitchFamily="34" charset="0"/>
                <a:ea typeface="Arial" pitchFamily="34" charset="-122"/>
                <a:cs typeface="Arial" pitchFamily="34" charset="-120"/>
              </a:rPr>
              <a:t>A Record</a:t>
            </a:r>
            <a:endParaRPr lang="en-US" sz="900" dirty="0"/>
          </a:p>
        </p:txBody>
      </p:sp>
      <p:sp>
        <p:nvSpPr>
          <p:cNvPr id="21" name="Text 17"/>
          <p:cNvSpPr/>
          <p:nvPr/>
        </p:nvSpPr>
        <p:spPr>
          <a:xfrm>
            <a:off x="2450306" y="2733824"/>
            <a:ext cx="1357313" cy="150019"/>
          </a:xfrm>
          <a:prstGeom prst="rect">
            <a:avLst/>
          </a:prstGeom>
          <a:noFill/>
          <a:ln/>
        </p:spPr>
        <p:txBody>
          <a:bodyPr wrap="square" lIns="0" tIns="0" rIns="0" bIns="0" rtlCol="0" anchor="t">
            <a:spAutoFit/>
          </a:bodyPr>
          <a:lstStyle/>
          <a:p>
            <a:pPr algn="l" indent="0" marL="0">
              <a:buNone/>
            </a:pPr>
            <a:r>
              <a:rPr lang="en-US" sz="900" b="1" dirty="0">
                <a:solidFill>
                  <a:srgbClr val="003049"/>
                </a:solidFill>
                <a:latin typeface="Arial" pitchFamily="34" charset="0"/>
                <a:ea typeface="Arial" pitchFamily="34" charset="-122"/>
                <a:cs typeface="Arial" pitchFamily="34" charset="-120"/>
              </a:rPr>
              <a:t>@</a:t>
            </a:r>
            <a:endParaRPr lang="en-US" sz="900" dirty="0"/>
          </a:p>
        </p:txBody>
      </p:sp>
      <p:sp>
        <p:nvSpPr>
          <p:cNvPr id="22" name="Text 18"/>
          <p:cNvSpPr/>
          <p:nvPr/>
        </p:nvSpPr>
        <p:spPr>
          <a:xfrm>
            <a:off x="3807619" y="2719536"/>
            <a:ext cx="3686175" cy="178594"/>
          </a:xfrm>
          <a:prstGeom prst="rect">
            <a:avLst/>
          </a:prstGeom>
          <a:noFill/>
          <a:ln/>
        </p:spPr>
        <p:txBody>
          <a:bodyPr wrap="square" lIns="0" tIns="0" rIns="0" bIns="0" rtlCol="0" anchor="t">
            <a:spAutoFit/>
          </a:bodyPr>
          <a:lstStyle/>
          <a:p>
            <a:pPr algn="l" indent="0" marL="0">
              <a:buNone/>
            </a:pPr>
            <a:r>
              <a:rPr lang="en-US" sz="1100" b="1" dirty="0">
                <a:solidFill>
                  <a:srgbClr val="003049"/>
                </a:solidFill>
                <a:latin typeface="Courier New" pitchFamily="34" charset="0"/>
                <a:ea typeface="Courier New" pitchFamily="34" charset="-122"/>
                <a:cs typeface="Courier New" pitchFamily="34" charset="-120"/>
              </a:rPr>
              <a:t>185.199.109.153</a:t>
            </a:r>
            <a:endParaRPr lang="en-US" sz="1100" dirty="0"/>
          </a:p>
        </p:txBody>
      </p:sp>
      <p:sp>
        <p:nvSpPr>
          <p:cNvPr id="23" name="Text 19"/>
          <p:cNvSpPr/>
          <p:nvPr/>
        </p:nvSpPr>
        <p:spPr>
          <a:xfrm>
            <a:off x="7493794" y="2733824"/>
            <a:ext cx="1107281" cy="150019"/>
          </a:xfrm>
          <a:prstGeom prst="rect">
            <a:avLst/>
          </a:prstGeom>
          <a:noFill/>
          <a:ln/>
        </p:spPr>
        <p:txBody>
          <a:bodyPr wrap="none" lIns="0" tIns="0" rIns="0" bIns="0" rtlCol="0" anchor="t">
            <a:spAutoFit/>
          </a:bodyPr>
          <a:lstStyle/>
          <a:p>
            <a:pPr algn="l" indent="0" marL="0">
              <a:buNone/>
            </a:pPr>
            <a:r>
              <a:rPr lang="en-US" sz="900" b="1" dirty="0">
                <a:solidFill>
                  <a:srgbClr val="003049"/>
                </a:solidFill>
                <a:latin typeface="Arial" pitchFamily="34" charset="0"/>
                <a:ea typeface="Arial" pitchFamily="34" charset="-122"/>
                <a:cs typeface="Arial" pitchFamily="34" charset="-120"/>
              </a:rPr>
              <a:t>Automatic</a:t>
            </a:r>
            <a:endParaRPr lang="en-US" sz="900" dirty="0"/>
          </a:p>
        </p:txBody>
      </p:sp>
      <p:sp>
        <p:nvSpPr>
          <p:cNvPr id="24" name="Text 20"/>
          <p:cNvSpPr/>
          <p:nvPr/>
        </p:nvSpPr>
        <p:spPr>
          <a:xfrm>
            <a:off x="1128713" y="3216027"/>
            <a:ext cx="1321594" cy="150019"/>
          </a:xfrm>
          <a:prstGeom prst="rect">
            <a:avLst/>
          </a:prstGeom>
          <a:noFill/>
          <a:ln/>
        </p:spPr>
        <p:txBody>
          <a:bodyPr wrap="square" lIns="0" tIns="0" rIns="0" bIns="0" rtlCol="0" anchor="t">
            <a:spAutoFit/>
          </a:bodyPr>
          <a:lstStyle/>
          <a:p>
            <a:pPr algn="l" indent="0" marL="0">
              <a:buNone/>
            </a:pPr>
            <a:r>
              <a:rPr lang="en-US" sz="900" b="1" dirty="0">
                <a:solidFill>
                  <a:srgbClr val="C45600"/>
                </a:solidFill>
                <a:latin typeface="Arial" pitchFamily="34" charset="0"/>
                <a:ea typeface="Arial" pitchFamily="34" charset="-122"/>
                <a:cs typeface="Arial" pitchFamily="34" charset="-120"/>
              </a:rPr>
              <a:t>A Record</a:t>
            </a:r>
            <a:endParaRPr lang="en-US" sz="900" dirty="0"/>
          </a:p>
        </p:txBody>
      </p:sp>
      <p:sp>
        <p:nvSpPr>
          <p:cNvPr id="25" name="Text 21"/>
          <p:cNvSpPr/>
          <p:nvPr/>
        </p:nvSpPr>
        <p:spPr>
          <a:xfrm>
            <a:off x="2450306" y="3216027"/>
            <a:ext cx="1357313" cy="150019"/>
          </a:xfrm>
          <a:prstGeom prst="rect">
            <a:avLst/>
          </a:prstGeom>
          <a:noFill/>
          <a:ln/>
        </p:spPr>
        <p:txBody>
          <a:bodyPr wrap="square" lIns="0" tIns="0" rIns="0" bIns="0" rtlCol="0" anchor="t">
            <a:spAutoFit/>
          </a:bodyPr>
          <a:lstStyle/>
          <a:p>
            <a:pPr algn="l" indent="0" marL="0">
              <a:buNone/>
            </a:pPr>
            <a:r>
              <a:rPr lang="en-US" sz="900" b="1" dirty="0">
                <a:solidFill>
                  <a:srgbClr val="003049"/>
                </a:solidFill>
                <a:latin typeface="Arial" pitchFamily="34" charset="0"/>
                <a:ea typeface="Arial" pitchFamily="34" charset="-122"/>
                <a:cs typeface="Arial" pitchFamily="34" charset="-120"/>
              </a:rPr>
              <a:t>@</a:t>
            </a:r>
            <a:endParaRPr lang="en-US" sz="900" dirty="0"/>
          </a:p>
        </p:txBody>
      </p:sp>
      <p:sp>
        <p:nvSpPr>
          <p:cNvPr id="26" name="Text 22"/>
          <p:cNvSpPr/>
          <p:nvPr/>
        </p:nvSpPr>
        <p:spPr>
          <a:xfrm>
            <a:off x="3807619" y="3201739"/>
            <a:ext cx="3686175" cy="178594"/>
          </a:xfrm>
          <a:prstGeom prst="rect">
            <a:avLst/>
          </a:prstGeom>
          <a:noFill/>
          <a:ln/>
        </p:spPr>
        <p:txBody>
          <a:bodyPr wrap="square" lIns="0" tIns="0" rIns="0" bIns="0" rtlCol="0" anchor="t">
            <a:spAutoFit/>
          </a:bodyPr>
          <a:lstStyle/>
          <a:p>
            <a:pPr algn="l" indent="0" marL="0">
              <a:buNone/>
            </a:pPr>
            <a:r>
              <a:rPr lang="en-US" sz="1100" b="1" dirty="0">
                <a:solidFill>
                  <a:srgbClr val="003049"/>
                </a:solidFill>
                <a:latin typeface="Courier New" pitchFamily="34" charset="0"/>
                <a:ea typeface="Courier New" pitchFamily="34" charset="-122"/>
                <a:cs typeface="Courier New" pitchFamily="34" charset="-120"/>
              </a:rPr>
              <a:t>185.199.110.153</a:t>
            </a:r>
            <a:endParaRPr lang="en-US" sz="1100" dirty="0"/>
          </a:p>
        </p:txBody>
      </p:sp>
      <p:sp>
        <p:nvSpPr>
          <p:cNvPr id="27" name="Text 23"/>
          <p:cNvSpPr/>
          <p:nvPr/>
        </p:nvSpPr>
        <p:spPr>
          <a:xfrm>
            <a:off x="7493794" y="3216027"/>
            <a:ext cx="1107281" cy="150019"/>
          </a:xfrm>
          <a:prstGeom prst="rect">
            <a:avLst/>
          </a:prstGeom>
          <a:noFill/>
          <a:ln/>
        </p:spPr>
        <p:txBody>
          <a:bodyPr wrap="none" lIns="0" tIns="0" rIns="0" bIns="0" rtlCol="0" anchor="t">
            <a:spAutoFit/>
          </a:bodyPr>
          <a:lstStyle/>
          <a:p>
            <a:pPr algn="l" indent="0" marL="0">
              <a:buNone/>
            </a:pPr>
            <a:r>
              <a:rPr lang="en-US" sz="900" b="1" dirty="0">
                <a:solidFill>
                  <a:srgbClr val="003049"/>
                </a:solidFill>
                <a:latin typeface="Arial" pitchFamily="34" charset="0"/>
                <a:ea typeface="Arial" pitchFamily="34" charset="-122"/>
                <a:cs typeface="Arial" pitchFamily="34" charset="-120"/>
              </a:rPr>
              <a:t>Automatic</a:t>
            </a:r>
            <a:endParaRPr lang="en-US" sz="900" dirty="0"/>
          </a:p>
        </p:txBody>
      </p:sp>
      <p:sp>
        <p:nvSpPr>
          <p:cNvPr id="28" name="Shape 24"/>
          <p:cNvSpPr/>
          <p:nvPr/>
        </p:nvSpPr>
        <p:spPr>
          <a:xfrm>
            <a:off x="1128713" y="3537496"/>
            <a:ext cx="7472363" cy="485775"/>
          </a:xfrm>
          <a:prstGeom prst="rect">
            <a:avLst/>
          </a:prstGeom>
          <a:solidFill>
            <a:srgbClr val="F7F3ED">
              <a:alpha val="37000"/>
            </a:srgbClr>
          </a:solidFill>
          <a:ln/>
        </p:spPr>
      </p:sp>
      <p:sp>
        <p:nvSpPr>
          <p:cNvPr id="29" name="Shape 25"/>
          <p:cNvSpPr/>
          <p:nvPr/>
        </p:nvSpPr>
        <p:spPr>
          <a:xfrm>
            <a:off x="1128713" y="4016127"/>
            <a:ext cx="7472363" cy="7144"/>
          </a:xfrm>
          <a:prstGeom prst="rect">
            <a:avLst/>
          </a:prstGeom>
          <a:solidFill>
            <a:srgbClr val="C2CDD3"/>
          </a:solidFill>
          <a:ln/>
        </p:spPr>
      </p:sp>
      <p:sp>
        <p:nvSpPr>
          <p:cNvPr id="30" name="Text 26"/>
          <p:cNvSpPr/>
          <p:nvPr/>
        </p:nvSpPr>
        <p:spPr>
          <a:xfrm>
            <a:off x="1128713" y="3705374"/>
            <a:ext cx="1321594" cy="150019"/>
          </a:xfrm>
          <a:prstGeom prst="rect">
            <a:avLst/>
          </a:prstGeom>
          <a:noFill/>
          <a:ln/>
        </p:spPr>
        <p:txBody>
          <a:bodyPr wrap="square" lIns="0" tIns="0" rIns="0" bIns="0" rtlCol="0" anchor="t">
            <a:spAutoFit/>
          </a:bodyPr>
          <a:lstStyle/>
          <a:p>
            <a:pPr algn="l" indent="0" marL="0">
              <a:buNone/>
            </a:pPr>
            <a:r>
              <a:rPr lang="en-US" sz="900" b="1" dirty="0">
                <a:solidFill>
                  <a:srgbClr val="C45600"/>
                </a:solidFill>
                <a:latin typeface="Arial" pitchFamily="34" charset="0"/>
                <a:ea typeface="Arial" pitchFamily="34" charset="-122"/>
                <a:cs typeface="Arial" pitchFamily="34" charset="-120"/>
              </a:rPr>
              <a:t>A Record</a:t>
            </a:r>
            <a:endParaRPr lang="en-US" sz="900" dirty="0"/>
          </a:p>
        </p:txBody>
      </p:sp>
      <p:sp>
        <p:nvSpPr>
          <p:cNvPr id="31" name="Text 27"/>
          <p:cNvSpPr/>
          <p:nvPr/>
        </p:nvSpPr>
        <p:spPr>
          <a:xfrm>
            <a:off x="2450306" y="3705374"/>
            <a:ext cx="1357313" cy="150019"/>
          </a:xfrm>
          <a:prstGeom prst="rect">
            <a:avLst/>
          </a:prstGeom>
          <a:noFill/>
          <a:ln/>
        </p:spPr>
        <p:txBody>
          <a:bodyPr wrap="square" lIns="0" tIns="0" rIns="0" bIns="0" rtlCol="0" anchor="t">
            <a:spAutoFit/>
          </a:bodyPr>
          <a:lstStyle/>
          <a:p>
            <a:pPr algn="l" indent="0" marL="0">
              <a:buNone/>
            </a:pPr>
            <a:r>
              <a:rPr lang="en-US" sz="900" b="1" dirty="0">
                <a:solidFill>
                  <a:srgbClr val="003049"/>
                </a:solidFill>
                <a:latin typeface="Arial" pitchFamily="34" charset="0"/>
                <a:ea typeface="Arial" pitchFamily="34" charset="-122"/>
                <a:cs typeface="Arial" pitchFamily="34" charset="-120"/>
              </a:rPr>
              <a:t>@</a:t>
            </a:r>
            <a:endParaRPr lang="en-US" sz="900" dirty="0"/>
          </a:p>
        </p:txBody>
      </p:sp>
      <p:sp>
        <p:nvSpPr>
          <p:cNvPr id="32" name="Text 28"/>
          <p:cNvSpPr/>
          <p:nvPr/>
        </p:nvSpPr>
        <p:spPr>
          <a:xfrm>
            <a:off x="3807619" y="3691086"/>
            <a:ext cx="3686175" cy="178594"/>
          </a:xfrm>
          <a:prstGeom prst="rect">
            <a:avLst/>
          </a:prstGeom>
          <a:noFill/>
          <a:ln/>
        </p:spPr>
        <p:txBody>
          <a:bodyPr wrap="square" lIns="0" tIns="0" rIns="0" bIns="0" rtlCol="0" anchor="t">
            <a:spAutoFit/>
          </a:bodyPr>
          <a:lstStyle/>
          <a:p>
            <a:pPr algn="l" indent="0" marL="0">
              <a:buNone/>
            </a:pPr>
            <a:r>
              <a:rPr lang="en-US" sz="1100" b="1" dirty="0">
                <a:solidFill>
                  <a:srgbClr val="003049"/>
                </a:solidFill>
                <a:latin typeface="Courier New" pitchFamily="34" charset="0"/>
                <a:ea typeface="Courier New" pitchFamily="34" charset="-122"/>
                <a:cs typeface="Courier New" pitchFamily="34" charset="-120"/>
              </a:rPr>
              <a:t>185.199.111.153</a:t>
            </a:r>
            <a:endParaRPr lang="en-US" sz="1100" dirty="0"/>
          </a:p>
        </p:txBody>
      </p:sp>
      <p:sp>
        <p:nvSpPr>
          <p:cNvPr id="33" name="Text 29"/>
          <p:cNvSpPr/>
          <p:nvPr/>
        </p:nvSpPr>
        <p:spPr>
          <a:xfrm>
            <a:off x="7493794" y="3705374"/>
            <a:ext cx="1107281" cy="150019"/>
          </a:xfrm>
          <a:prstGeom prst="rect">
            <a:avLst/>
          </a:prstGeom>
          <a:noFill/>
          <a:ln/>
        </p:spPr>
        <p:txBody>
          <a:bodyPr wrap="none" lIns="0" tIns="0" rIns="0" bIns="0" rtlCol="0" anchor="t">
            <a:spAutoFit/>
          </a:bodyPr>
          <a:lstStyle/>
          <a:p>
            <a:pPr algn="l" indent="0" marL="0">
              <a:buNone/>
            </a:pPr>
            <a:r>
              <a:rPr lang="en-US" sz="900" b="1" dirty="0">
                <a:solidFill>
                  <a:srgbClr val="003049"/>
                </a:solidFill>
                <a:latin typeface="Arial" pitchFamily="34" charset="0"/>
                <a:ea typeface="Arial" pitchFamily="34" charset="-122"/>
                <a:cs typeface="Arial" pitchFamily="34" charset="-120"/>
              </a:rPr>
              <a:t>Automatic</a:t>
            </a:r>
            <a:endParaRPr lang="en-US" sz="900" dirty="0"/>
          </a:p>
        </p:txBody>
      </p:sp>
      <p:sp>
        <p:nvSpPr>
          <p:cNvPr id="34" name="Shape 30"/>
          <p:cNvSpPr/>
          <p:nvPr/>
        </p:nvSpPr>
        <p:spPr>
          <a:xfrm>
            <a:off x="1128713" y="4294733"/>
            <a:ext cx="342900" cy="342900"/>
          </a:xfrm>
          <a:prstGeom prst="ellipse">
            <a:avLst/>
          </a:prstGeom>
          <a:solidFill>
            <a:srgbClr val="003049"/>
          </a:solidFill>
          <a:ln/>
        </p:spPr>
      </p:sp>
      <p:sp>
        <p:nvSpPr>
          <p:cNvPr id="35" name="Text 31"/>
          <p:cNvSpPr/>
          <p:nvPr/>
        </p:nvSpPr>
        <p:spPr>
          <a:xfrm>
            <a:off x="1128713" y="4294733"/>
            <a:ext cx="342900" cy="342900"/>
          </a:xfrm>
          <a:prstGeom prst="rect">
            <a:avLst/>
          </a:prstGeom>
          <a:noFill/>
          <a:ln/>
        </p:spPr>
        <p:txBody>
          <a:bodyPr wrap="none" lIns="0" tIns="0" rIns="0" bIns="0" rtlCol="0" anchor="ctr">
            <a:spAutoFit/>
          </a:bodyPr>
          <a:lstStyle/>
          <a:p>
            <a:pPr algn="ctr" indent="0" marL="0">
              <a:buNone/>
            </a:pPr>
            <a:r>
              <a:rPr lang="en-US" sz="1200" b="1" dirty="0">
                <a:solidFill>
                  <a:srgbClr val="F7F3ED"/>
                </a:solidFill>
                <a:latin typeface="Arial" pitchFamily="34" charset="0"/>
                <a:ea typeface="Arial" pitchFamily="34" charset="-122"/>
                <a:cs typeface="Arial" pitchFamily="34" charset="-120"/>
              </a:rPr>
              <a:t>!</a:t>
            </a:r>
            <a:endParaRPr lang="en-US" sz="1200" dirty="0"/>
          </a:p>
        </p:txBody>
      </p:sp>
      <p:sp>
        <p:nvSpPr>
          <p:cNvPr id="36" name="Text 32"/>
          <p:cNvSpPr/>
          <p:nvPr/>
        </p:nvSpPr>
        <p:spPr>
          <a:xfrm>
            <a:off x="1757363" y="4294733"/>
            <a:ext cx="6843713" cy="160734"/>
          </a:xfrm>
          <a:prstGeom prst="rect">
            <a:avLst/>
          </a:prstGeom>
          <a:noFill/>
          <a:ln/>
        </p:spPr>
        <p:txBody>
          <a:bodyPr wrap="square" lIns="0" tIns="0" rIns="0" bIns="0" rtlCol="0" anchor="t">
            <a:spAutoFit/>
          </a:bodyPr>
          <a:lstStyle/>
          <a:p>
            <a:pPr algn="l" indent="0" marL="0">
              <a:buNone/>
            </a:pPr>
            <a:r>
              <a:rPr lang="en-US" sz="1000" b="1" dirty="0">
                <a:solidFill>
                  <a:srgbClr val="003049"/>
                </a:solidFill>
                <a:latin typeface="Arial" pitchFamily="34" charset="0"/>
                <a:ea typeface="Arial" pitchFamily="34" charset="-122"/>
                <a:cs typeface="Arial" pitchFamily="34" charset="-120"/>
              </a:rPr>
              <a:t>Save all changes after the fourth record</a:t>
            </a:r>
            <a:endParaRPr lang="en-US" sz="1000" dirty="0"/>
          </a:p>
        </p:txBody>
      </p:sp>
      <p:sp>
        <p:nvSpPr>
          <p:cNvPr id="37" name="Text 33"/>
          <p:cNvSpPr/>
          <p:nvPr/>
        </p:nvSpPr>
        <p:spPr>
          <a:xfrm>
            <a:off x="1757363" y="4498330"/>
            <a:ext cx="5857875" cy="335087"/>
          </a:xfrm>
          <a:prstGeom prst="rect">
            <a:avLst/>
          </a:prstGeom>
          <a:noFill/>
          <a:ln/>
        </p:spPr>
        <p:txBody>
          <a:bodyPr wrap="square" lIns="0" tIns="0" rIns="0" bIns="0" rtlCol="0" anchor="t">
            <a:spAutoFit/>
          </a:bodyPr>
          <a:lstStyle/>
          <a:p>
            <a:pPr algn="l" indent="0" marL="0">
              <a:lnSpc>
                <a:spcPct val="110400"/>
              </a:lnSpc>
              <a:buNone/>
            </a:pPr>
            <a:r>
              <a:rPr lang="en-US" sz="900" dirty="0">
                <a:solidFill>
                  <a:srgbClr val="42515A"/>
                </a:solidFill>
                <a:latin typeface="Arial" pitchFamily="34" charset="0"/>
                <a:ea typeface="Arial" pitchFamily="34" charset="-122"/>
                <a:cs typeface="Arial" pitchFamily="34" charset="-120"/>
              </a:rPr>
              <a:t>Before saving, remove any existing </a:t>
            </a:r>
            <a:r>
              <a:rPr lang="en-US" sz="850" b="1" dirty="0">
                <a:solidFill>
                  <a:srgbClr val="42515A"/>
                </a:solidFill>
                <a:latin typeface="Arial" pitchFamily="34" charset="0"/>
                <a:ea typeface="Arial" pitchFamily="34" charset="-122"/>
                <a:cs typeface="Arial" pitchFamily="34" charset="-120"/>
              </a:rPr>
              <a:t>@</a:t>
            </a:r>
            <a:r>
              <a:rPr lang="en-US" sz="900" dirty="0">
                <a:solidFill>
                  <a:srgbClr val="42515A"/>
                </a:solidFill>
                <a:latin typeface="Arial" pitchFamily="34" charset="0"/>
                <a:ea typeface="Arial" pitchFamily="34" charset="-122"/>
                <a:cs typeface="Arial" pitchFamily="34" charset="-120"/>
              </a:rPr>
              <a:t> A records, CNAME records, or URL Redirect records that conflict with </a:t>
            </a:r>
            <a:r>
              <a:rPr lang="en-US" sz="900" dirty="0">
                <a:solidFill>
                  <a:srgbClr val="42515A"/>
                </a:solidFill>
                <a:latin typeface="Arial" pitchFamily="34" charset="0"/>
                <a:ea typeface="Arial" pitchFamily="34" charset="-122"/>
                <a:cs typeface="Arial" pitchFamily="34" charset="-120"/>
              </a:rPr>
              <a:t>this root-domain configuration. The </a:t>
            </a:r>
            <a:r>
              <a:rPr lang="en-US" sz="850" b="1" dirty="0">
                <a:solidFill>
                  <a:srgbClr val="42515A"/>
                </a:solidFill>
                <a:latin typeface="Arial" pitchFamily="34" charset="0"/>
                <a:ea typeface="Arial" pitchFamily="34" charset="-122"/>
                <a:cs typeface="Arial" pitchFamily="34" charset="-120"/>
              </a:rPr>
              <a:t>www</a:t>
            </a:r>
            <a:r>
              <a:rPr lang="en-US" sz="900" dirty="0">
                <a:solidFill>
                  <a:srgbClr val="42515A"/>
                </a:solidFill>
                <a:latin typeface="Arial" pitchFamily="34" charset="0"/>
                <a:ea typeface="Arial" pitchFamily="34" charset="-122"/>
                <a:cs typeface="Arial" pitchFamily="34" charset="-120"/>
              </a:rPr>
              <a:t> CNAME is a separate next step.</a:t>
            </a:r>
            <a:endParaRPr lang="en-US" sz="900" dirty="0"/>
          </a:p>
        </p:txBody>
      </p:sp>
      <p:sp>
        <p:nvSpPr>
          <p:cNvPr id="38" name="Text 34"/>
          <p:cNvSpPr/>
          <p:nvPr/>
        </p:nvSpPr>
        <p:spPr>
          <a:xfrm>
            <a:off x="1128713" y="4990579"/>
            <a:ext cx="7472363" cy="100013"/>
          </a:xfrm>
          <a:prstGeom prst="rect">
            <a:avLst/>
          </a:prstGeom>
          <a:noFill/>
          <a:ln/>
        </p:spPr>
        <p:txBody>
          <a:bodyPr wrap="square" lIns="0" tIns="0" rIns="0" bIns="0" rtlCol="0" anchor="t">
            <a:spAutoFit/>
          </a:bodyPr>
          <a:lstStyle/>
          <a:p>
            <a:pPr algn="l" indent="0" marL="0">
              <a:buNone/>
            </a:pPr>
            <a:r>
              <a:rPr lang="en-US" sz="600" b="1" dirty="0">
                <a:solidFill>
                  <a:srgbClr val="61757F"/>
                </a:solidFill>
                <a:latin typeface="Arial" pitchFamily="34" charset="0"/>
                <a:ea typeface="Arial" pitchFamily="34" charset="-122"/>
                <a:cs typeface="Arial" pitchFamily="34" charset="-120"/>
              </a:rPr>
              <a:t>[2] GitHub Docs — Managing a custom domain for your GitHub Pages site · [3] Namecheap — Link a domain to GitHub Pages</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28638" y="385763"/>
            <a:ext cx="414338" cy="414338"/>
          </a:xfrm>
          <a:prstGeom prst="ellipse">
            <a:avLst/>
          </a:prstGeom>
          <a:solidFill>
            <a:srgbClr val="F77F00"/>
          </a:solidFill>
          <a:ln/>
        </p:spPr>
      </p:sp>
      <p:sp>
        <p:nvSpPr>
          <p:cNvPr id="5" name="Text 1"/>
          <p:cNvSpPr/>
          <p:nvPr/>
        </p:nvSpPr>
        <p:spPr>
          <a:xfrm>
            <a:off x="528638" y="385763"/>
            <a:ext cx="414338" cy="414338"/>
          </a:xfrm>
          <a:prstGeom prst="rect">
            <a:avLst/>
          </a:prstGeom>
          <a:noFill/>
          <a:ln/>
        </p:spPr>
        <p:txBody>
          <a:bodyPr wrap="none" lIns="0" tIns="0" rIns="0" bIns="0" rtlCol="0" anchor="ctr">
            <a:spAutoFit/>
          </a:bodyPr>
          <a:lstStyle/>
          <a:p>
            <a:pPr algn="ctr" indent="0" marL="0">
              <a:buNone/>
            </a:pPr>
            <a:r>
              <a:rPr lang="en-US" sz="1200" b="1" dirty="0">
                <a:solidFill>
                  <a:srgbClr val="003049"/>
                </a:solidFill>
                <a:latin typeface="Arial" pitchFamily="34" charset="0"/>
                <a:ea typeface="Arial" pitchFamily="34" charset="-122"/>
                <a:cs typeface="Arial" pitchFamily="34" charset="-120"/>
              </a:rPr>
              <a:t>05</a:t>
            </a:r>
            <a:endParaRPr lang="en-US" sz="1200" dirty="0"/>
          </a:p>
        </p:txBody>
      </p:sp>
      <p:sp>
        <p:nvSpPr>
          <p:cNvPr id="6" name="Text 2"/>
          <p:cNvSpPr/>
          <p:nvPr/>
        </p:nvSpPr>
        <p:spPr>
          <a:xfrm>
            <a:off x="1114425" y="425053"/>
            <a:ext cx="4748696" cy="335756"/>
          </a:xfrm>
          <a:prstGeom prst="rect">
            <a:avLst/>
          </a:prstGeom>
          <a:noFill/>
          <a:ln/>
        </p:spPr>
        <p:txBody>
          <a:bodyPr wrap="none" lIns="0" tIns="0" rIns="0" bIns="0" rtlCol="0" anchor="t">
            <a:spAutoFit/>
          </a:bodyPr>
          <a:lstStyle/>
          <a:p>
            <a:pPr algn="l" indent="0" marL="0">
              <a:lnSpc>
                <a:spcPct val="80000"/>
              </a:lnSpc>
              <a:buNone/>
            </a:pPr>
            <a:r>
              <a:rPr lang="en-US" sz="2400" b="1" spc="-2" kern="0" dirty="0">
                <a:solidFill>
                  <a:srgbClr val="003049"/>
                </a:solidFill>
                <a:latin typeface="Arial" pitchFamily="34" charset="0"/>
                <a:ea typeface="Arial" pitchFamily="34" charset="-122"/>
                <a:cs typeface="Arial" pitchFamily="34" charset="-120"/>
              </a:rPr>
              <a:t>Add the </a:t>
            </a:r>
            <a:r>
              <a:rPr lang="en-US" sz="2400" b="1" i="1" spc="-2" kern="0" dirty="0">
                <a:solidFill>
                  <a:srgbClr val="003049"/>
                </a:solidFill>
                <a:latin typeface="Arial" pitchFamily="34" charset="0"/>
                <a:ea typeface="Arial" pitchFamily="34" charset="-122"/>
                <a:cs typeface="Arial" pitchFamily="34" charset="-120"/>
              </a:rPr>
              <a:t>www</a:t>
            </a:r>
            <a:r>
              <a:rPr lang="en-US" sz="2400" b="1" spc="-2" kern="0" dirty="0">
                <a:solidFill>
                  <a:srgbClr val="003049"/>
                </a:solidFill>
                <a:latin typeface="Arial" pitchFamily="34" charset="0"/>
                <a:ea typeface="Arial" pitchFamily="34" charset="-122"/>
                <a:cs typeface="Arial" pitchFamily="34" charset="-120"/>
              </a:rPr>
              <a:t> companion record</a:t>
            </a:r>
            <a:endParaRPr lang="en-US" sz="2400" dirty="0"/>
          </a:p>
        </p:txBody>
      </p:sp>
      <p:sp>
        <p:nvSpPr>
          <p:cNvPr id="7" name="Text 3"/>
          <p:cNvSpPr/>
          <p:nvPr/>
        </p:nvSpPr>
        <p:spPr>
          <a:xfrm>
            <a:off x="1114425" y="914400"/>
            <a:ext cx="7500938" cy="385763"/>
          </a:xfrm>
          <a:prstGeom prst="rect">
            <a:avLst/>
          </a:prstGeom>
          <a:noFill/>
          <a:ln/>
        </p:spPr>
        <p:txBody>
          <a:bodyPr wrap="square" lIns="0" tIns="0" rIns="0" bIns="0" rtlCol="0" anchor="t">
            <a:spAutoFit/>
          </a:bodyPr>
          <a:lstStyle/>
          <a:p>
            <a:pPr algn="l" indent="0" marL="0">
              <a:lnSpc>
                <a:spcPct val="108000"/>
              </a:lnSpc>
              <a:buNone/>
            </a:pPr>
            <a:r>
              <a:rPr lang="en-US" sz="1050" dirty="0">
                <a:solidFill>
                  <a:srgbClr val="42515A"/>
                </a:solidFill>
                <a:latin typeface="Arial" pitchFamily="34" charset="0"/>
                <a:ea typeface="Arial" pitchFamily="34" charset="-122"/>
                <a:cs typeface="Arial" pitchFamily="34" charset="-120"/>
              </a:rPr>
              <a:t>One CNAME keeps the familiar </a:t>
            </a:r>
            <a:r>
              <a:rPr lang="en-US" sz="1000" b="1" dirty="0">
                <a:solidFill>
                  <a:srgbClr val="42515A"/>
                </a:solidFill>
                <a:latin typeface="Arial" pitchFamily="34" charset="0"/>
                <a:ea typeface="Arial" pitchFamily="34" charset="-122"/>
                <a:cs typeface="Arial" pitchFamily="34" charset="-120"/>
              </a:rPr>
              <a:t>www</a:t>
            </a:r>
            <a:r>
              <a:rPr lang="en-US" sz="1050" dirty="0">
                <a:solidFill>
                  <a:srgbClr val="42515A"/>
                </a:solidFill>
                <a:latin typeface="Arial" pitchFamily="34" charset="0"/>
                <a:ea typeface="Arial" pitchFamily="34" charset="-122"/>
                <a:cs typeface="Arial" pitchFamily="34" charset="-120"/>
              </a:rPr>
              <a:t> address available while GitHub Pages redirects visitors to the selected primary </a:t>
            </a:r>
            <a:r>
              <a:rPr lang="en-US" sz="1050" dirty="0">
                <a:solidFill>
                  <a:srgbClr val="42515A"/>
                </a:solidFill>
                <a:latin typeface="Arial" pitchFamily="34" charset="0"/>
                <a:ea typeface="Arial" pitchFamily="34" charset="-122"/>
                <a:cs typeface="Arial" pitchFamily="34" charset="-120"/>
              </a:rPr>
              <a:t>domain.</a:t>
            </a:r>
            <a:endParaRPr lang="en-US" sz="1050" dirty="0"/>
          </a:p>
        </p:txBody>
      </p:sp>
      <p:sp>
        <p:nvSpPr>
          <p:cNvPr id="8" name="Shape 4"/>
          <p:cNvSpPr/>
          <p:nvPr/>
        </p:nvSpPr>
        <p:spPr>
          <a:xfrm>
            <a:off x="1114425" y="1728788"/>
            <a:ext cx="871538" cy="871538"/>
          </a:xfrm>
          <a:prstGeom prst="ellipse">
            <a:avLst/>
          </a:prstGeom>
          <a:solidFill>
            <a:srgbClr val="F77F00"/>
          </a:solidFill>
          <a:ln/>
        </p:spPr>
      </p:sp>
      <p:sp>
        <p:nvSpPr>
          <p:cNvPr id="9" name="Text 5"/>
          <p:cNvSpPr/>
          <p:nvPr/>
        </p:nvSpPr>
        <p:spPr>
          <a:xfrm>
            <a:off x="1114425" y="1728788"/>
            <a:ext cx="871538" cy="871538"/>
          </a:xfrm>
          <a:prstGeom prst="rect">
            <a:avLst/>
          </a:prstGeom>
          <a:noFill/>
          <a:ln/>
        </p:spPr>
        <p:txBody>
          <a:bodyPr wrap="none" lIns="0" tIns="0" rIns="0" bIns="0" rtlCol="0" anchor="ctr">
            <a:spAutoFit/>
          </a:bodyPr>
          <a:lstStyle/>
          <a:p>
            <a:pPr algn="ctr" indent="0" marL="0">
              <a:buNone/>
            </a:pPr>
            <a:r>
              <a:rPr lang="en-US" sz="1500" b="1" spc="-1" kern="0" dirty="0">
                <a:solidFill>
                  <a:srgbClr val="003049"/>
                </a:solidFill>
                <a:latin typeface="Arial" pitchFamily="34" charset="0"/>
                <a:ea typeface="Arial" pitchFamily="34" charset="-122"/>
                <a:cs typeface="Arial" pitchFamily="34" charset="-120"/>
              </a:rPr>
              <a:t>www</a:t>
            </a:r>
            <a:endParaRPr lang="en-US" sz="1500" dirty="0"/>
          </a:p>
        </p:txBody>
      </p:sp>
      <p:sp>
        <p:nvSpPr>
          <p:cNvPr id="10" name="Text 6"/>
          <p:cNvSpPr/>
          <p:nvPr/>
        </p:nvSpPr>
        <p:spPr>
          <a:xfrm>
            <a:off x="1114425" y="2743200"/>
            <a:ext cx="1901968" cy="207169"/>
          </a:xfrm>
          <a:prstGeom prst="rect">
            <a:avLst/>
          </a:prstGeom>
          <a:noFill/>
          <a:ln/>
        </p:spPr>
        <p:txBody>
          <a:bodyPr wrap="square" lIns="0" tIns="0" rIns="0" bIns="0" rtlCol="0" anchor="t">
            <a:spAutoFit/>
          </a:bodyPr>
          <a:lstStyle/>
          <a:p>
            <a:pPr algn="l" indent="0" marL="0">
              <a:buNone/>
            </a:pPr>
            <a:r>
              <a:rPr lang="en-US" sz="1250" b="1" spc="-1" kern="0" dirty="0">
                <a:solidFill>
                  <a:srgbClr val="003049"/>
                </a:solidFill>
                <a:latin typeface="Arial" pitchFamily="34" charset="0"/>
                <a:ea typeface="Arial" pitchFamily="34" charset="-122"/>
                <a:cs typeface="Arial" pitchFamily="34" charset="-120"/>
              </a:rPr>
              <a:t>www.stackwright.online</a:t>
            </a:r>
            <a:endParaRPr lang="en-US" sz="1250" dirty="0"/>
          </a:p>
        </p:txBody>
      </p:sp>
      <p:sp>
        <p:nvSpPr>
          <p:cNvPr id="11" name="Text 7"/>
          <p:cNvSpPr/>
          <p:nvPr/>
        </p:nvSpPr>
        <p:spPr>
          <a:xfrm>
            <a:off x="1114425" y="3007519"/>
            <a:ext cx="1308813" cy="132159"/>
          </a:xfrm>
          <a:prstGeom prst="rect">
            <a:avLst/>
          </a:prstGeom>
          <a:noFill/>
          <a:ln/>
        </p:spPr>
        <p:txBody>
          <a:bodyPr wrap="square" lIns="0" tIns="0" rIns="0" bIns="0" rtlCol="0" anchor="t">
            <a:spAutoFit/>
          </a:bodyPr>
          <a:lstStyle/>
          <a:p>
            <a:pPr algn="l" indent="0" marL="0">
              <a:buNone/>
            </a:pPr>
            <a:r>
              <a:rPr lang="en-US" sz="850" dirty="0">
                <a:solidFill>
                  <a:srgbClr val="42515A"/>
                </a:solidFill>
                <a:latin typeface="Arial" pitchFamily="34" charset="0"/>
                <a:ea typeface="Arial" pitchFamily="34" charset="-122"/>
                <a:cs typeface="Arial" pitchFamily="34" charset="-120"/>
              </a:rPr>
              <a:t>Host value in Namecheap</a:t>
            </a:r>
            <a:endParaRPr lang="en-US" sz="850" dirty="0"/>
          </a:p>
        </p:txBody>
      </p:sp>
      <p:sp>
        <p:nvSpPr>
          <p:cNvPr id="12" name="Shape 8"/>
          <p:cNvSpPr/>
          <p:nvPr/>
        </p:nvSpPr>
        <p:spPr>
          <a:xfrm>
            <a:off x="4029801" y="2419945"/>
            <a:ext cx="900113" cy="28575"/>
          </a:xfrm>
          <a:prstGeom prst="rect">
            <a:avLst/>
          </a:prstGeom>
          <a:solidFill>
            <a:srgbClr val="7F9AA8"/>
          </a:solidFill>
          <a:ln/>
        </p:spPr>
      </p:sp>
      <p:sp>
        <p:nvSpPr>
          <p:cNvPr id="13" name="Text 9"/>
          <p:cNvSpPr/>
          <p:nvPr/>
        </p:nvSpPr>
        <p:spPr>
          <a:xfrm>
            <a:off x="4029801" y="2419945"/>
            <a:ext cx="900113" cy="28575"/>
          </a:xfrm>
          <a:prstGeom prst="rect">
            <a:avLst/>
          </a:prstGeom>
          <a:noFill/>
          <a:ln/>
        </p:spPr>
        <p:txBody>
          <a:bodyPr wrap="none" lIns="0" tIns="0" rIns="0" bIns="0" rtlCol="0" anchor="t">
            <a:spAutoFit/>
          </a:bodyPr>
          <a:lstStyle/>
          <a:p>
            <a:pPr algn="l" indent="0" marL="0">
              <a:buNone/>
            </a:pPr>
            <a:endParaRPr lang="en-US" dirty="0"/>
          </a:p>
        </p:txBody>
      </p:sp>
      <p:sp>
        <p:nvSpPr>
          <p:cNvPr id="14" name="Text 10"/>
          <p:cNvSpPr/>
          <p:nvPr/>
        </p:nvSpPr>
        <p:spPr>
          <a:xfrm>
            <a:off x="4251257" y="2119908"/>
            <a:ext cx="457200" cy="121444"/>
          </a:xfrm>
          <a:prstGeom prst="rect">
            <a:avLst/>
          </a:prstGeom>
          <a:noFill/>
          <a:ln/>
        </p:spPr>
        <p:txBody>
          <a:bodyPr wrap="none" lIns="0" tIns="0" rIns="0" bIns="0" rtlCol="0" anchor="t">
            <a:spAutoFit/>
          </a:bodyPr>
          <a:lstStyle/>
          <a:p>
            <a:pPr algn="l" indent="0" marL="0">
              <a:buNone/>
            </a:pPr>
            <a:r>
              <a:rPr lang="en-US" sz="750" b="1" spc="1" kern="0" dirty="0">
                <a:solidFill>
                  <a:srgbClr val="C45600"/>
                </a:solidFill>
                <a:latin typeface="Arial" pitchFamily="34" charset="0"/>
                <a:ea typeface="Arial" pitchFamily="34" charset="-122"/>
                <a:cs typeface="Arial" pitchFamily="34" charset="-120"/>
              </a:rPr>
              <a:t>CNAME</a:t>
            </a:r>
            <a:endParaRPr lang="en-US" sz="750" dirty="0"/>
          </a:p>
        </p:txBody>
      </p:sp>
      <p:sp>
        <p:nvSpPr>
          <p:cNvPr id="15" name="Shape 11"/>
          <p:cNvSpPr/>
          <p:nvPr/>
        </p:nvSpPr>
        <p:spPr>
          <a:xfrm>
            <a:off x="4929913" y="1728788"/>
            <a:ext cx="871538" cy="871538"/>
          </a:xfrm>
          <a:prstGeom prst="ellipse">
            <a:avLst/>
          </a:prstGeom>
          <a:solidFill>
            <a:srgbClr val="003049"/>
          </a:solidFill>
          <a:ln/>
        </p:spPr>
      </p:sp>
      <p:sp>
        <p:nvSpPr>
          <p:cNvPr id="16" name="Text 12"/>
          <p:cNvSpPr/>
          <p:nvPr/>
        </p:nvSpPr>
        <p:spPr>
          <a:xfrm>
            <a:off x="5010057" y="2085975"/>
            <a:ext cx="559557" cy="157163"/>
          </a:xfrm>
          <a:prstGeom prst="rect">
            <a:avLst/>
          </a:prstGeom>
          <a:noFill/>
          <a:ln/>
        </p:spPr>
        <p:txBody>
          <a:bodyPr wrap="none" lIns="0" tIns="0" rIns="0" bIns="0" rtlCol="0" anchor="t">
            <a:spAutoFit/>
          </a:bodyPr>
          <a:lstStyle/>
          <a:p>
            <a:pPr algn="ctr" indent="0" marL="0">
              <a:lnSpc>
                <a:spcPct val="80000"/>
              </a:lnSpc>
              <a:buNone/>
            </a:pPr>
            <a:r>
              <a:rPr lang="en-US" sz="1100" b="1" spc="-1" kern="0" dirty="0">
                <a:solidFill>
                  <a:srgbClr val="F7F3ED"/>
                </a:solidFill>
                <a:latin typeface="Arial" pitchFamily="34" charset="0"/>
                <a:ea typeface="Arial" pitchFamily="34" charset="-122"/>
                <a:cs typeface="Arial" pitchFamily="34" charset="-120"/>
              </a:rPr>
              <a:t>GITHUB</a:t>
            </a:r>
            <a:endParaRPr lang="en-US" sz="1100" dirty="0"/>
          </a:p>
        </p:txBody>
      </p:sp>
      <p:sp>
        <p:nvSpPr>
          <p:cNvPr id="17" name="Text 13"/>
          <p:cNvSpPr/>
          <p:nvPr/>
        </p:nvSpPr>
        <p:spPr>
          <a:xfrm>
            <a:off x="5569614" y="2085975"/>
            <a:ext cx="151637" cy="157163"/>
          </a:xfrm>
          <a:prstGeom prst="rect">
            <a:avLst/>
          </a:prstGeom>
          <a:noFill/>
          <a:ln/>
        </p:spPr>
        <p:txBody>
          <a:bodyPr wrap="none" lIns="0" tIns="0" rIns="0" bIns="0" rtlCol="0" anchor="t">
            <a:spAutoFit/>
          </a:bodyPr>
          <a:lstStyle/>
          <a:p>
            <a:pPr algn="ctr" indent="0" marL="0">
              <a:lnSpc>
                <a:spcPct val="80000"/>
              </a:lnSpc>
              <a:buNone/>
            </a:pPr>
            <a:r>
              <a:rPr lang="en-US" sz="1100" b="1" spc="-1" kern="0" dirty="0">
                <a:solidFill>
                  <a:srgbClr val="F7F3ED"/>
                </a:solidFill>
                <a:latin typeface="Arial" pitchFamily="34" charset="0"/>
                <a:ea typeface="Arial" pitchFamily="34" charset="-122"/>
                <a:cs typeface="Arial" pitchFamily="34" charset="-120"/>
              </a:rPr>
              <a:t>IO</a:t>
            </a:r>
            <a:endParaRPr lang="en-US" sz="1100" dirty="0"/>
          </a:p>
        </p:txBody>
      </p:sp>
      <p:sp>
        <p:nvSpPr>
          <p:cNvPr id="18" name="Text 14"/>
          <p:cNvSpPr/>
          <p:nvPr/>
        </p:nvSpPr>
        <p:spPr>
          <a:xfrm>
            <a:off x="4929913" y="2743200"/>
            <a:ext cx="2010575" cy="207169"/>
          </a:xfrm>
          <a:prstGeom prst="rect">
            <a:avLst/>
          </a:prstGeom>
          <a:noFill/>
          <a:ln/>
        </p:spPr>
        <p:txBody>
          <a:bodyPr wrap="square" lIns="0" tIns="0" rIns="0" bIns="0" rtlCol="0" anchor="t">
            <a:spAutoFit/>
          </a:bodyPr>
          <a:lstStyle/>
          <a:p>
            <a:pPr algn="l" indent="0" marL="0">
              <a:buNone/>
            </a:pPr>
            <a:r>
              <a:rPr lang="en-US" sz="1250" b="1" spc="-1" kern="0" dirty="0">
                <a:solidFill>
                  <a:srgbClr val="003049"/>
                </a:solidFill>
                <a:latin typeface="Arial" pitchFamily="34" charset="0"/>
                <a:ea typeface="Arial" pitchFamily="34" charset="-122"/>
                <a:cs typeface="Arial" pitchFamily="34" charset="-120"/>
              </a:rPr>
              <a:t>jasonclarkagain.github.io</a:t>
            </a:r>
            <a:endParaRPr lang="en-US" sz="1250" dirty="0"/>
          </a:p>
        </p:txBody>
      </p:sp>
      <p:sp>
        <p:nvSpPr>
          <p:cNvPr id="19" name="Text 15"/>
          <p:cNvSpPr/>
          <p:nvPr/>
        </p:nvSpPr>
        <p:spPr>
          <a:xfrm>
            <a:off x="4929913" y="3007519"/>
            <a:ext cx="1391469" cy="132159"/>
          </a:xfrm>
          <a:prstGeom prst="rect">
            <a:avLst/>
          </a:prstGeom>
          <a:noFill/>
          <a:ln/>
        </p:spPr>
        <p:txBody>
          <a:bodyPr wrap="square" lIns="0" tIns="0" rIns="0" bIns="0" rtlCol="0" anchor="t">
            <a:spAutoFit/>
          </a:bodyPr>
          <a:lstStyle/>
          <a:p>
            <a:pPr algn="l" indent="0" marL="0">
              <a:buNone/>
            </a:pPr>
            <a:r>
              <a:rPr lang="en-US" sz="850" dirty="0">
                <a:solidFill>
                  <a:srgbClr val="42515A"/>
                </a:solidFill>
                <a:latin typeface="Arial" pitchFamily="34" charset="0"/>
                <a:ea typeface="Arial" pitchFamily="34" charset="-122"/>
                <a:cs typeface="Arial" pitchFamily="34" charset="-120"/>
              </a:rPr>
              <a:t>Target value in Namecheap</a:t>
            </a:r>
            <a:endParaRPr lang="en-US" sz="850" dirty="0"/>
          </a:p>
        </p:txBody>
      </p:sp>
      <p:sp>
        <p:nvSpPr>
          <p:cNvPr id="20" name="Shape 16"/>
          <p:cNvSpPr/>
          <p:nvPr/>
        </p:nvSpPr>
        <p:spPr>
          <a:xfrm>
            <a:off x="1114425" y="3439716"/>
            <a:ext cx="7500938" cy="385763"/>
          </a:xfrm>
          <a:prstGeom prst="rect">
            <a:avLst/>
          </a:prstGeom>
          <a:solidFill>
            <a:srgbClr val="000000">
              <a:alpha val="0"/>
            </a:srgbClr>
          </a:solidFill>
          <a:ln/>
        </p:spPr>
      </p:sp>
      <p:sp>
        <p:nvSpPr>
          <p:cNvPr id="21" name="Shape 17"/>
          <p:cNvSpPr/>
          <p:nvPr/>
        </p:nvSpPr>
        <p:spPr>
          <a:xfrm>
            <a:off x="1114425" y="3439716"/>
            <a:ext cx="7500938" cy="14288"/>
          </a:xfrm>
          <a:prstGeom prst="rect">
            <a:avLst/>
          </a:prstGeom>
          <a:solidFill>
            <a:srgbClr val="BDC9D0"/>
          </a:solidFill>
          <a:ln/>
        </p:spPr>
      </p:sp>
      <p:sp>
        <p:nvSpPr>
          <p:cNvPr id="22" name="Text 18"/>
          <p:cNvSpPr/>
          <p:nvPr/>
        </p:nvSpPr>
        <p:spPr>
          <a:xfrm>
            <a:off x="1114425" y="3679031"/>
            <a:ext cx="1208019" cy="110728"/>
          </a:xfrm>
          <a:prstGeom prst="rect">
            <a:avLst/>
          </a:prstGeom>
          <a:noFill/>
          <a:ln/>
        </p:spPr>
        <p:txBody>
          <a:bodyPr wrap="none" lIns="0" tIns="0" rIns="0" bIns="0" rtlCol="0" anchor="t">
            <a:spAutoFit/>
          </a:bodyPr>
          <a:lstStyle/>
          <a:p>
            <a:pPr algn="l" indent="0" marL="0">
              <a:buNone/>
            </a:pPr>
            <a:r>
              <a:rPr lang="en-US" sz="650" b="1" spc="1" kern="0" dirty="0">
                <a:solidFill>
                  <a:srgbClr val="61757F"/>
                </a:solidFill>
                <a:latin typeface="Arial" pitchFamily="34" charset="0"/>
                <a:ea typeface="Arial" pitchFamily="34" charset="-122"/>
                <a:cs typeface="Arial" pitchFamily="34" charset="-120"/>
              </a:rPr>
              <a:t>NAMECHEAP RECORD</a:t>
            </a:r>
            <a:endParaRPr lang="en-US" sz="650" dirty="0"/>
          </a:p>
        </p:txBody>
      </p:sp>
      <p:sp>
        <p:nvSpPr>
          <p:cNvPr id="23" name="Text 19"/>
          <p:cNvSpPr/>
          <p:nvPr/>
        </p:nvSpPr>
        <p:spPr>
          <a:xfrm>
            <a:off x="2465319" y="3596878"/>
            <a:ext cx="5185804" cy="214313"/>
          </a:xfrm>
          <a:prstGeom prst="rect">
            <a:avLst/>
          </a:prstGeom>
          <a:noFill/>
          <a:ln/>
        </p:spPr>
        <p:txBody>
          <a:bodyPr wrap="square" lIns="0" tIns="0" rIns="0" bIns="0" rtlCol="0" anchor="t">
            <a:spAutoFit/>
          </a:bodyPr>
          <a:lstStyle/>
          <a:p>
            <a:pPr algn="l" indent="0" marL="0">
              <a:buNone/>
            </a:pPr>
            <a:r>
              <a:rPr lang="en-US" sz="1300" b="1" spc="-1" kern="0" dirty="0">
                <a:solidFill>
                  <a:srgbClr val="003049"/>
                </a:solidFill>
                <a:latin typeface="Arial" pitchFamily="34" charset="0"/>
                <a:ea typeface="Arial" pitchFamily="34" charset="-122"/>
                <a:cs typeface="Arial" pitchFamily="34" charset="-120"/>
              </a:rPr>
              <a:t>CNAME Record | Host: www | Value: jasonclarkagain.github.io</a:t>
            </a:r>
            <a:endParaRPr lang="en-US" sz="1300" dirty="0"/>
          </a:p>
        </p:txBody>
      </p:sp>
      <p:sp>
        <p:nvSpPr>
          <p:cNvPr id="24" name="Text 20"/>
          <p:cNvSpPr/>
          <p:nvPr/>
        </p:nvSpPr>
        <p:spPr>
          <a:xfrm>
            <a:off x="1114425" y="4196953"/>
            <a:ext cx="2347894" cy="139303"/>
          </a:xfrm>
          <a:prstGeom prst="rect">
            <a:avLst/>
          </a:prstGeom>
          <a:noFill/>
          <a:ln/>
        </p:spPr>
        <p:txBody>
          <a:bodyPr wrap="square" lIns="0" tIns="0" rIns="0" bIns="0" rtlCol="0" anchor="t">
            <a:spAutoFit/>
          </a:bodyPr>
          <a:lstStyle/>
          <a:p>
            <a:pPr algn="l" indent="0" marL="0">
              <a:buNone/>
            </a:pPr>
            <a:r>
              <a:rPr lang="en-US" sz="850" b="1" dirty="0">
                <a:solidFill>
                  <a:srgbClr val="003049"/>
                </a:solidFill>
                <a:latin typeface="Arial" pitchFamily="34" charset="0"/>
                <a:ea typeface="Arial" pitchFamily="34" charset="-122"/>
                <a:cs typeface="Arial" pitchFamily="34" charset="-120"/>
              </a:rPr>
              <a:t>No repository path</a:t>
            </a:r>
            <a:endParaRPr lang="en-US" sz="850" dirty="0"/>
          </a:p>
        </p:txBody>
      </p:sp>
      <p:sp>
        <p:nvSpPr>
          <p:cNvPr id="25" name="Text 21"/>
          <p:cNvSpPr/>
          <p:nvPr/>
        </p:nvSpPr>
        <p:spPr>
          <a:xfrm>
            <a:off x="1114425" y="4386263"/>
            <a:ext cx="2347894" cy="263984"/>
          </a:xfrm>
          <a:prstGeom prst="rect">
            <a:avLst/>
          </a:prstGeom>
          <a:noFill/>
          <a:ln/>
        </p:spPr>
        <p:txBody>
          <a:bodyPr wrap="square" lIns="0" tIns="0" rIns="0" bIns="0" rtlCol="0" anchor="t">
            <a:spAutoFit/>
          </a:bodyPr>
          <a:lstStyle/>
          <a:p>
            <a:pPr algn="l" indent="0" marL="0">
              <a:lnSpc>
                <a:spcPct val="105600"/>
              </a:lnSpc>
              <a:buNone/>
            </a:pPr>
            <a:r>
              <a:rPr lang="en-US" sz="750" dirty="0">
                <a:solidFill>
                  <a:srgbClr val="42515A"/>
                </a:solidFill>
                <a:latin typeface="Arial" pitchFamily="34" charset="0"/>
                <a:ea typeface="Arial" pitchFamily="34" charset="-122"/>
                <a:cs typeface="Arial" pitchFamily="34" charset="-120"/>
              </a:rPr>
              <a:t>Use the GitHub user domain only—never append </a:t>
            </a:r>
            <a:r>
              <a:rPr lang="en-US" sz="700" b="1" dirty="0">
                <a:solidFill>
                  <a:srgbClr val="42515A"/>
                </a:solidFill>
                <a:latin typeface="Arial" pitchFamily="34" charset="0"/>
                <a:ea typeface="Arial" pitchFamily="34" charset="-122"/>
                <a:cs typeface="Arial" pitchFamily="34" charset="-120"/>
              </a:rPr>
              <a:t>/neversus</a:t>
            </a:r>
            <a:r>
              <a:rPr lang="en-US" sz="750" dirty="0">
                <a:solidFill>
                  <a:srgbClr val="42515A"/>
                </a:solidFill>
                <a:latin typeface="Arial" pitchFamily="34" charset="0"/>
                <a:ea typeface="Arial" pitchFamily="34" charset="-122"/>
                <a:cs typeface="Arial" pitchFamily="34" charset="-120"/>
              </a:rPr>
              <a:t> to the CNAME value.</a:t>
            </a:r>
            <a:endParaRPr lang="en-US" sz="750" dirty="0"/>
          </a:p>
        </p:txBody>
      </p:sp>
      <p:sp>
        <p:nvSpPr>
          <p:cNvPr id="26" name="Text 22"/>
          <p:cNvSpPr/>
          <p:nvPr/>
        </p:nvSpPr>
        <p:spPr>
          <a:xfrm>
            <a:off x="3690919" y="4196953"/>
            <a:ext cx="2347894" cy="139303"/>
          </a:xfrm>
          <a:prstGeom prst="rect">
            <a:avLst/>
          </a:prstGeom>
          <a:noFill/>
          <a:ln/>
        </p:spPr>
        <p:txBody>
          <a:bodyPr wrap="square" lIns="0" tIns="0" rIns="0" bIns="0" rtlCol="0" anchor="t">
            <a:spAutoFit/>
          </a:bodyPr>
          <a:lstStyle/>
          <a:p>
            <a:pPr algn="l" indent="0" marL="0">
              <a:buNone/>
            </a:pPr>
            <a:r>
              <a:rPr lang="en-US" sz="850" b="1" dirty="0">
                <a:solidFill>
                  <a:srgbClr val="003049"/>
                </a:solidFill>
                <a:latin typeface="Arial" pitchFamily="34" charset="0"/>
                <a:ea typeface="Arial" pitchFamily="34" charset="-122"/>
                <a:cs typeface="Arial" pitchFamily="34" charset="-120"/>
              </a:rPr>
              <a:t>No CNAME at @</a:t>
            </a:r>
            <a:endParaRPr lang="en-US" sz="850" dirty="0"/>
          </a:p>
        </p:txBody>
      </p:sp>
      <p:sp>
        <p:nvSpPr>
          <p:cNvPr id="27" name="Text 23"/>
          <p:cNvSpPr/>
          <p:nvPr/>
        </p:nvSpPr>
        <p:spPr>
          <a:xfrm>
            <a:off x="3690919" y="4386263"/>
            <a:ext cx="2347894" cy="263984"/>
          </a:xfrm>
          <a:prstGeom prst="rect">
            <a:avLst/>
          </a:prstGeom>
          <a:noFill/>
          <a:ln/>
        </p:spPr>
        <p:txBody>
          <a:bodyPr wrap="square" lIns="0" tIns="0" rIns="0" bIns="0" rtlCol="0" anchor="t">
            <a:spAutoFit/>
          </a:bodyPr>
          <a:lstStyle/>
          <a:p>
            <a:pPr algn="l" indent="0" marL="0">
              <a:lnSpc>
                <a:spcPct val="105600"/>
              </a:lnSpc>
              <a:buNone/>
            </a:pPr>
            <a:r>
              <a:rPr lang="en-US" sz="750" dirty="0">
                <a:solidFill>
                  <a:srgbClr val="42515A"/>
                </a:solidFill>
                <a:latin typeface="Arial" pitchFamily="34" charset="0"/>
                <a:ea typeface="Arial" pitchFamily="34" charset="-122"/>
                <a:cs typeface="Arial" pitchFamily="34" charset="-120"/>
              </a:rPr>
              <a:t>The apex host uses the four A records; this CNAME </a:t>
            </a:r>
            <a:r>
              <a:rPr lang="en-US" sz="750" dirty="0">
                <a:solidFill>
                  <a:srgbClr val="42515A"/>
                </a:solidFill>
                <a:latin typeface="Arial" pitchFamily="34" charset="0"/>
                <a:ea typeface="Arial" pitchFamily="34" charset="-122"/>
                <a:cs typeface="Arial" pitchFamily="34" charset="-120"/>
              </a:rPr>
              <a:t>is exclusively for </a:t>
            </a:r>
            <a:r>
              <a:rPr lang="en-US" sz="700" b="1" dirty="0">
                <a:solidFill>
                  <a:srgbClr val="42515A"/>
                </a:solidFill>
                <a:latin typeface="Arial" pitchFamily="34" charset="0"/>
                <a:ea typeface="Arial" pitchFamily="34" charset="-122"/>
                <a:cs typeface="Arial" pitchFamily="34" charset="-120"/>
              </a:rPr>
              <a:t>www</a:t>
            </a:r>
            <a:r>
              <a:rPr lang="en-US" sz="750" dirty="0">
                <a:solidFill>
                  <a:srgbClr val="42515A"/>
                </a:solidFill>
                <a:latin typeface="Arial" pitchFamily="34" charset="0"/>
                <a:ea typeface="Arial" pitchFamily="34" charset="-122"/>
                <a:cs typeface="Arial" pitchFamily="34" charset="-120"/>
              </a:rPr>
              <a:t>.</a:t>
            </a:r>
            <a:endParaRPr lang="en-US" sz="750" dirty="0"/>
          </a:p>
        </p:txBody>
      </p:sp>
      <p:sp>
        <p:nvSpPr>
          <p:cNvPr id="28" name="Text 24"/>
          <p:cNvSpPr/>
          <p:nvPr/>
        </p:nvSpPr>
        <p:spPr>
          <a:xfrm>
            <a:off x="6267413" y="4196953"/>
            <a:ext cx="2347894" cy="139303"/>
          </a:xfrm>
          <a:prstGeom prst="rect">
            <a:avLst/>
          </a:prstGeom>
          <a:noFill/>
          <a:ln/>
        </p:spPr>
        <p:txBody>
          <a:bodyPr wrap="square" lIns="0" tIns="0" rIns="0" bIns="0" rtlCol="0" anchor="t">
            <a:spAutoFit/>
          </a:bodyPr>
          <a:lstStyle/>
          <a:p>
            <a:pPr algn="l" indent="0" marL="0">
              <a:buNone/>
            </a:pPr>
            <a:r>
              <a:rPr lang="en-US" sz="850" b="1" dirty="0">
                <a:solidFill>
                  <a:srgbClr val="003049"/>
                </a:solidFill>
                <a:latin typeface="Arial" pitchFamily="34" charset="0"/>
                <a:ea typeface="Arial" pitchFamily="34" charset="-122"/>
                <a:cs typeface="Arial" pitchFamily="34" charset="-120"/>
              </a:rPr>
              <a:t>Redirect behavior</a:t>
            </a:r>
            <a:endParaRPr lang="en-US" sz="850" dirty="0"/>
          </a:p>
        </p:txBody>
      </p:sp>
      <p:sp>
        <p:nvSpPr>
          <p:cNvPr id="29" name="Text 25"/>
          <p:cNvSpPr/>
          <p:nvPr/>
        </p:nvSpPr>
        <p:spPr>
          <a:xfrm>
            <a:off x="6267413" y="4386263"/>
            <a:ext cx="2347894" cy="263984"/>
          </a:xfrm>
          <a:prstGeom prst="rect">
            <a:avLst/>
          </a:prstGeom>
          <a:noFill/>
          <a:ln/>
        </p:spPr>
        <p:txBody>
          <a:bodyPr wrap="square" lIns="0" tIns="0" rIns="0" bIns="0" rtlCol="0" anchor="t">
            <a:spAutoFit/>
          </a:bodyPr>
          <a:lstStyle/>
          <a:p>
            <a:pPr algn="l" indent="0" marL="0">
              <a:lnSpc>
                <a:spcPct val="105600"/>
              </a:lnSpc>
              <a:buNone/>
            </a:pPr>
            <a:r>
              <a:rPr lang="en-US" sz="750" dirty="0">
                <a:solidFill>
                  <a:srgbClr val="42515A"/>
                </a:solidFill>
                <a:latin typeface="Arial" pitchFamily="34" charset="0"/>
                <a:ea typeface="Arial" pitchFamily="34" charset="-122"/>
                <a:cs typeface="Arial" pitchFamily="34" charset="-120"/>
              </a:rPr>
              <a:t>With both records in place, GitHub Pages routes the alternate address to the primary custom domain.</a:t>
            </a:r>
            <a:endParaRPr lang="en-US" sz="750" dirty="0"/>
          </a:p>
        </p:txBody>
      </p:sp>
      <p:sp>
        <p:nvSpPr>
          <p:cNvPr id="30" name="Text 26"/>
          <p:cNvSpPr/>
          <p:nvPr/>
        </p:nvSpPr>
        <p:spPr>
          <a:xfrm>
            <a:off x="1114425" y="4882753"/>
            <a:ext cx="7500938" cy="100013"/>
          </a:xfrm>
          <a:prstGeom prst="rect">
            <a:avLst/>
          </a:prstGeom>
          <a:noFill/>
          <a:ln/>
        </p:spPr>
        <p:txBody>
          <a:bodyPr wrap="square" lIns="0" tIns="0" rIns="0" bIns="0" rtlCol="0" anchor="t">
            <a:spAutoFit/>
          </a:bodyPr>
          <a:lstStyle/>
          <a:p>
            <a:pPr algn="l" indent="0" marL="0">
              <a:buNone/>
            </a:pPr>
            <a:r>
              <a:rPr lang="en-US" sz="600" b="1" dirty="0">
                <a:solidFill>
                  <a:srgbClr val="61757F"/>
                </a:solidFill>
                <a:latin typeface="Arial" pitchFamily="34" charset="0"/>
                <a:ea typeface="Arial" pitchFamily="34" charset="-122"/>
                <a:cs typeface="Arial" pitchFamily="34" charset="-120"/>
              </a:rPr>
              <a:t>[2] GitHub Docs — Managing a custom domain for your GitHub Pages site · [3] Namecheap — Link a domain to GitHub Pages</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28638" y="471488"/>
            <a:ext cx="414338" cy="414338"/>
          </a:xfrm>
          <a:prstGeom prst="ellipse">
            <a:avLst/>
          </a:prstGeom>
          <a:solidFill>
            <a:srgbClr val="F77F00"/>
          </a:solidFill>
          <a:ln/>
        </p:spPr>
      </p:sp>
      <p:sp>
        <p:nvSpPr>
          <p:cNvPr id="5" name="Text 1"/>
          <p:cNvSpPr/>
          <p:nvPr/>
        </p:nvSpPr>
        <p:spPr>
          <a:xfrm>
            <a:off x="528638" y="471488"/>
            <a:ext cx="414338" cy="414338"/>
          </a:xfrm>
          <a:prstGeom prst="rect">
            <a:avLst/>
          </a:prstGeom>
          <a:noFill/>
          <a:ln/>
        </p:spPr>
        <p:txBody>
          <a:bodyPr wrap="none" lIns="0" tIns="0" rIns="0" bIns="0" rtlCol="0" anchor="ctr">
            <a:spAutoFit/>
          </a:bodyPr>
          <a:lstStyle/>
          <a:p>
            <a:pPr algn="ctr" indent="0" marL="0">
              <a:buNone/>
            </a:pPr>
            <a:r>
              <a:rPr lang="en-US" sz="1200" b="1" dirty="0">
                <a:solidFill>
                  <a:srgbClr val="003049"/>
                </a:solidFill>
                <a:latin typeface="Arial" pitchFamily="34" charset="0"/>
                <a:ea typeface="Arial" pitchFamily="34" charset="-122"/>
                <a:cs typeface="Arial" pitchFamily="34" charset="-120"/>
              </a:rPr>
              <a:t>06</a:t>
            </a:r>
            <a:endParaRPr lang="en-US" sz="1200" dirty="0"/>
          </a:p>
        </p:txBody>
      </p:sp>
      <p:sp>
        <p:nvSpPr>
          <p:cNvPr id="6" name="Text 2"/>
          <p:cNvSpPr/>
          <p:nvPr/>
        </p:nvSpPr>
        <p:spPr>
          <a:xfrm>
            <a:off x="528638" y="1057275"/>
            <a:ext cx="2000250" cy="987010"/>
          </a:xfrm>
          <a:prstGeom prst="rect">
            <a:avLst/>
          </a:prstGeom>
          <a:noFill/>
          <a:ln/>
        </p:spPr>
        <p:txBody>
          <a:bodyPr wrap="square" lIns="0" tIns="0" rIns="0" bIns="0" rtlCol="0" anchor="t">
            <a:spAutoFit/>
          </a:bodyPr>
          <a:lstStyle/>
          <a:p>
            <a:pPr algn="l" indent="0" marL="0">
              <a:lnSpc>
                <a:spcPct val="78400"/>
              </a:lnSpc>
              <a:buNone/>
            </a:pPr>
            <a:r>
              <a:rPr lang="en-US" sz="2400" b="1" spc="-2" kern="0" dirty="0">
                <a:solidFill>
                  <a:srgbClr val="003049"/>
                </a:solidFill>
                <a:latin typeface="Arial" pitchFamily="34" charset="0"/>
                <a:ea typeface="Arial" pitchFamily="34" charset="-122"/>
                <a:cs typeface="Arial" pitchFamily="34" charset="-120"/>
              </a:rPr>
              <a:t>Rebuild for a root-domain path</a:t>
            </a:r>
            <a:endParaRPr lang="en-US" sz="2400" dirty="0"/>
          </a:p>
        </p:txBody>
      </p:sp>
      <p:sp>
        <p:nvSpPr>
          <p:cNvPr id="7" name="Text 3"/>
          <p:cNvSpPr/>
          <p:nvPr/>
        </p:nvSpPr>
        <p:spPr>
          <a:xfrm>
            <a:off x="528638" y="2237166"/>
            <a:ext cx="1785938" cy="745629"/>
          </a:xfrm>
          <a:prstGeom prst="rect">
            <a:avLst/>
          </a:prstGeom>
          <a:noFill/>
          <a:ln/>
        </p:spPr>
        <p:txBody>
          <a:bodyPr wrap="square" lIns="0" tIns="0" rIns="0" bIns="0" rtlCol="0" anchor="t">
            <a:spAutoFit/>
          </a:bodyPr>
          <a:lstStyle/>
          <a:p>
            <a:pPr algn="l" indent="0" marL="0">
              <a:lnSpc>
                <a:spcPct val="116000"/>
              </a:lnSpc>
              <a:buNone/>
            </a:pPr>
            <a:r>
              <a:rPr lang="en-US" sz="950" dirty="0">
                <a:solidFill>
                  <a:srgbClr val="42515A"/>
                </a:solidFill>
                <a:latin typeface="Arial" pitchFamily="34" charset="0"/>
                <a:ea typeface="Arial" pitchFamily="34" charset="-122"/>
                <a:cs typeface="Arial" pitchFamily="34" charset="-120"/>
              </a:rPr>
              <a:t>A custom domain lives at the root. The repository-name path must leave the production asset URLs.</a:t>
            </a:r>
            <a:endParaRPr lang="en-US" sz="950" dirty="0"/>
          </a:p>
        </p:txBody>
      </p:sp>
      <p:sp>
        <p:nvSpPr>
          <p:cNvPr id="8" name="Text 4"/>
          <p:cNvSpPr/>
          <p:nvPr/>
        </p:nvSpPr>
        <p:spPr>
          <a:xfrm>
            <a:off x="2934630" y="471488"/>
            <a:ext cx="3429000" cy="114300"/>
          </a:xfrm>
          <a:prstGeom prst="rect">
            <a:avLst/>
          </a:prstGeom>
          <a:noFill/>
          <a:ln/>
        </p:spPr>
        <p:txBody>
          <a:bodyPr wrap="square" lIns="0" tIns="0" rIns="0" bIns="0" rtlCol="0" anchor="t">
            <a:spAutoFit/>
          </a:bodyPr>
          <a:lstStyle/>
          <a:p>
            <a:pPr algn="l" indent="0" marL="0">
              <a:buNone/>
            </a:pPr>
            <a:r>
              <a:rPr lang="en-US" sz="700" b="1" spc="1" kern="0" dirty="0">
                <a:solidFill>
                  <a:srgbClr val="C45600"/>
                </a:solidFill>
                <a:latin typeface="Arial" pitchFamily="34" charset="0"/>
                <a:ea typeface="Arial" pitchFamily="34" charset="-122"/>
                <a:cs typeface="Arial" pitchFamily="34" charset="-120"/>
              </a:rPr>
              <a:t>VITE CONFIGURATION</a:t>
            </a:r>
            <a:endParaRPr lang="en-US" sz="700" dirty="0"/>
          </a:p>
        </p:txBody>
      </p:sp>
      <p:sp>
        <p:nvSpPr>
          <p:cNvPr id="9" name="Text 5"/>
          <p:cNvSpPr/>
          <p:nvPr/>
        </p:nvSpPr>
        <p:spPr>
          <a:xfrm>
            <a:off x="2934630" y="714375"/>
            <a:ext cx="3429000" cy="418244"/>
          </a:xfrm>
          <a:prstGeom prst="rect">
            <a:avLst/>
          </a:prstGeom>
          <a:noFill/>
          <a:ln/>
        </p:spPr>
        <p:txBody>
          <a:bodyPr wrap="square" lIns="0" tIns="0" rIns="0" bIns="0" rtlCol="0" anchor="t">
            <a:spAutoFit/>
          </a:bodyPr>
          <a:lstStyle/>
          <a:p>
            <a:pPr algn="l" indent="0" marL="0">
              <a:lnSpc>
                <a:spcPct val="97600"/>
              </a:lnSpc>
              <a:buNone/>
            </a:pPr>
            <a:r>
              <a:rPr lang="en-US" sz="1200" b="1" spc="-1" kern="0" dirty="0">
                <a:solidFill>
                  <a:srgbClr val="003049"/>
                </a:solidFill>
                <a:latin typeface="Arial" pitchFamily="34" charset="0"/>
                <a:ea typeface="Arial" pitchFamily="34" charset="-122"/>
                <a:cs typeface="Arial" pitchFamily="34" charset="-120"/>
              </a:rPr>
              <a:t>Replace the project subpath with one root-relative base.</a:t>
            </a:r>
            <a:endParaRPr lang="en-US" sz="1200" dirty="0"/>
          </a:p>
        </p:txBody>
      </p:sp>
      <p:sp>
        <p:nvSpPr>
          <p:cNvPr id="10" name="Text 6"/>
          <p:cNvSpPr/>
          <p:nvPr/>
        </p:nvSpPr>
        <p:spPr>
          <a:xfrm>
            <a:off x="2934630" y="1432657"/>
            <a:ext cx="1528763" cy="100013"/>
          </a:xfrm>
          <a:prstGeom prst="rect">
            <a:avLst/>
          </a:prstGeom>
          <a:noFill/>
          <a:ln/>
        </p:spPr>
        <p:txBody>
          <a:bodyPr wrap="square" lIns="0" tIns="0" rIns="0" bIns="0" rtlCol="0" anchor="t">
            <a:spAutoFit/>
          </a:bodyPr>
          <a:lstStyle/>
          <a:p>
            <a:pPr algn="l" indent="0" marL="0">
              <a:buNone/>
            </a:pPr>
            <a:r>
              <a:rPr lang="en-US" sz="600" b="1" spc="1" kern="0" dirty="0">
                <a:solidFill>
                  <a:srgbClr val="61757F"/>
                </a:solidFill>
                <a:latin typeface="Arial" pitchFamily="34" charset="0"/>
                <a:ea typeface="Arial" pitchFamily="34" charset="-122"/>
                <a:cs typeface="Arial" pitchFamily="34" charset="-120"/>
              </a:rPr>
              <a:t>BEFORE</a:t>
            </a:r>
            <a:endParaRPr lang="en-US" sz="600" dirty="0"/>
          </a:p>
        </p:txBody>
      </p:sp>
      <p:sp>
        <p:nvSpPr>
          <p:cNvPr id="11" name="Shape 7"/>
          <p:cNvSpPr/>
          <p:nvPr/>
        </p:nvSpPr>
        <p:spPr>
          <a:xfrm>
            <a:off x="2934630" y="1618394"/>
            <a:ext cx="1528763" cy="642938"/>
          </a:xfrm>
          <a:prstGeom prst="rect">
            <a:avLst/>
          </a:prstGeom>
          <a:solidFill>
            <a:srgbClr val="EEF4F6"/>
          </a:solidFill>
          <a:ln/>
        </p:spPr>
      </p:sp>
      <p:sp>
        <p:nvSpPr>
          <p:cNvPr id="12" name="Text 8"/>
          <p:cNvSpPr/>
          <p:nvPr/>
        </p:nvSpPr>
        <p:spPr>
          <a:xfrm>
            <a:off x="2934630" y="1618394"/>
            <a:ext cx="1528763" cy="642938"/>
          </a:xfrm>
          <a:prstGeom prst="rect">
            <a:avLst/>
          </a:prstGeom>
          <a:noFill/>
          <a:ln/>
        </p:spPr>
        <p:txBody>
          <a:bodyPr wrap="square" lIns="136017" tIns="0" rIns="136017" bIns="0" rtlCol="0" anchor="t">
            <a:spAutoFit/>
          </a:bodyPr>
          <a:lstStyle/>
          <a:p>
            <a:pPr algn="l" indent="0" marL="0">
              <a:lnSpc>
                <a:spcPct val="92000"/>
              </a:lnSpc>
              <a:buNone/>
            </a:pPr>
            <a:r>
              <a:rPr lang="en-US" sz="1000" b="1" dirty="0">
                <a:solidFill>
                  <a:srgbClr val="003049"/>
                </a:solidFill>
                <a:latin typeface="Courier New" pitchFamily="34" charset="0"/>
                <a:ea typeface="Courier New" pitchFamily="34" charset="-122"/>
                <a:cs typeface="Courier New" pitchFamily="34" charset="-120"/>
              </a:rPr>
              <a:t>/neversus/</a:t>
            </a:r>
            <a:endParaRPr lang="en-US" sz="1000" dirty="0"/>
          </a:p>
        </p:txBody>
      </p:sp>
      <p:sp>
        <p:nvSpPr>
          <p:cNvPr id="13" name="Text 9"/>
          <p:cNvSpPr/>
          <p:nvPr/>
        </p:nvSpPr>
        <p:spPr>
          <a:xfrm>
            <a:off x="4463393" y="1707691"/>
            <a:ext cx="371475" cy="278606"/>
          </a:xfrm>
          <a:prstGeom prst="rect">
            <a:avLst/>
          </a:prstGeom>
          <a:noFill/>
          <a:ln/>
        </p:spPr>
        <p:txBody>
          <a:bodyPr wrap="none" lIns="0" tIns="0" rIns="0" bIns="0" rtlCol="0" anchor="t">
            <a:spAutoFit/>
          </a:bodyPr>
          <a:lstStyle/>
          <a:p>
            <a:pPr algn="ctr" indent="0" marL="0">
              <a:buNone/>
            </a:pPr>
            <a:r>
              <a:rPr lang="en-US" sz="1700" b="1" dirty="0">
                <a:solidFill>
                  <a:srgbClr val="F77F00"/>
                </a:solidFill>
                <a:latin typeface="Arial" pitchFamily="34" charset="0"/>
                <a:ea typeface="Arial" pitchFamily="34" charset="-122"/>
                <a:cs typeface="Arial" pitchFamily="34" charset="-120"/>
              </a:rPr>
              <a:t>→</a:t>
            </a:r>
            <a:endParaRPr lang="en-US" sz="1700" dirty="0"/>
          </a:p>
        </p:txBody>
      </p:sp>
      <p:sp>
        <p:nvSpPr>
          <p:cNvPr id="14" name="Text 10"/>
          <p:cNvSpPr/>
          <p:nvPr/>
        </p:nvSpPr>
        <p:spPr>
          <a:xfrm>
            <a:off x="4834868" y="1432657"/>
            <a:ext cx="1528763" cy="100013"/>
          </a:xfrm>
          <a:prstGeom prst="rect">
            <a:avLst/>
          </a:prstGeom>
          <a:noFill/>
          <a:ln/>
        </p:spPr>
        <p:txBody>
          <a:bodyPr wrap="square" lIns="0" tIns="0" rIns="0" bIns="0" rtlCol="0" anchor="t">
            <a:spAutoFit/>
          </a:bodyPr>
          <a:lstStyle/>
          <a:p>
            <a:pPr algn="l" indent="0" marL="0">
              <a:buNone/>
            </a:pPr>
            <a:r>
              <a:rPr lang="en-US" sz="600" b="1" spc="1" kern="0" dirty="0">
                <a:solidFill>
                  <a:srgbClr val="61757F"/>
                </a:solidFill>
                <a:latin typeface="Arial" pitchFamily="34" charset="0"/>
                <a:ea typeface="Arial" pitchFamily="34" charset="-122"/>
                <a:cs typeface="Arial" pitchFamily="34" charset="-120"/>
              </a:rPr>
              <a:t>FOR STACKWRIGHT.ONLINE</a:t>
            </a:r>
            <a:endParaRPr lang="en-US" sz="600" dirty="0"/>
          </a:p>
        </p:txBody>
      </p:sp>
      <p:sp>
        <p:nvSpPr>
          <p:cNvPr id="15" name="Shape 11"/>
          <p:cNvSpPr/>
          <p:nvPr/>
        </p:nvSpPr>
        <p:spPr>
          <a:xfrm>
            <a:off x="4834868" y="1618394"/>
            <a:ext cx="1528763" cy="642938"/>
          </a:xfrm>
          <a:prstGeom prst="rect">
            <a:avLst/>
          </a:prstGeom>
          <a:solidFill>
            <a:srgbClr val="003049"/>
          </a:solidFill>
          <a:ln/>
        </p:spPr>
      </p:sp>
      <p:sp>
        <p:nvSpPr>
          <p:cNvPr id="16" name="Text 12"/>
          <p:cNvSpPr/>
          <p:nvPr/>
        </p:nvSpPr>
        <p:spPr>
          <a:xfrm>
            <a:off x="4834868" y="1618394"/>
            <a:ext cx="1528763" cy="642938"/>
          </a:xfrm>
          <a:prstGeom prst="rect">
            <a:avLst/>
          </a:prstGeom>
          <a:noFill/>
          <a:ln/>
        </p:spPr>
        <p:txBody>
          <a:bodyPr wrap="square" lIns="136017" tIns="0" rIns="136017" bIns="0" rtlCol="0" anchor="t">
            <a:spAutoFit/>
          </a:bodyPr>
          <a:lstStyle/>
          <a:p>
            <a:pPr algn="l" indent="0" marL="0">
              <a:lnSpc>
                <a:spcPct val="92000"/>
              </a:lnSpc>
              <a:buNone/>
            </a:pPr>
            <a:r>
              <a:rPr lang="en-US" sz="1000" b="1" dirty="0">
                <a:solidFill>
                  <a:srgbClr val="F7F3ED"/>
                </a:solidFill>
                <a:latin typeface="Courier New" pitchFamily="34" charset="0"/>
                <a:ea typeface="Courier New" pitchFamily="34" charset="-122"/>
                <a:cs typeface="Courier New" pitchFamily="34" charset="-120"/>
              </a:rPr>
              <a:t>/</a:t>
            </a:r>
            <a:endParaRPr lang="en-US" sz="1000" dirty="0"/>
          </a:p>
        </p:txBody>
      </p:sp>
      <p:sp>
        <p:nvSpPr>
          <p:cNvPr id="17" name="Shape 13"/>
          <p:cNvSpPr/>
          <p:nvPr/>
        </p:nvSpPr>
        <p:spPr>
          <a:xfrm>
            <a:off x="2934630" y="2575657"/>
            <a:ext cx="3429000" cy="764995"/>
          </a:xfrm>
          <a:prstGeom prst="rect">
            <a:avLst/>
          </a:prstGeom>
          <a:solidFill>
            <a:srgbClr val="003049"/>
          </a:solidFill>
          <a:ln/>
        </p:spPr>
      </p:sp>
      <p:sp>
        <p:nvSpPr>
          <p:cNvPr id="18" name="Text 14"/>
          <p:cNvSpPr/>
          <p:nvPr/>
        </p:nvSpPr>
        <p:spPr>
          <a:xfrm>
            <a:off x="2934630" y="2575657"/>
            <a:ext cx="3429000" cy="764995"/>
          </a:xfrm>
          <a:prstGeom prst="rect">
            <a:avLst/>
          </a:prstGeom>
          <a:noFill/>
          <a:ln/>
        </p:spPr>
        <p:txBody>
          <a:bodyPr wrap="square" lIns="170053" tIns="153035" rIns="170053" bIns="0" rtlCol="0" anchor="t">
            <a:spAutoFit/>
          </a:bodyPr>
          <a:lstStyle/>
          <a:p>
            <a:pPr algn="l" indent="0" marL="0">
              <a:lnSpc>
                <a:spcPct val="132000"/>
              </a:lnSpc>
              <a:buNone/>
            </a:pPr>
            <a:r>
              <a:rPr lang="en-US" sz="950" dirty="0">
                <a:solidFill>
                  <a:srgbClr val="F7F3ED"/>
                </a:solidFill>
                <a:latin typeface="Courier New" pitchFamily="34" charset="0"/>
                <a:ea typeface="Courier New" pitchFamily="34" charset="-122"/>
                <a:cs typeface="Courier New" pitchFamily="34" charset="-120"/>
              </a:rPr>
              <a:t>export default defineConfig({</a:t>
            </a:r>
            <a:r>
              <a:rPr lang="en-US" sz="950" dirty="0">
                <a:solidFill>
                  <a:srgbClr val="F7F3ED"/>
                </a:solidFill>
                <a:latin typeface="Courier New" pitchFamily="34" charset="0"/>
                <a:ea typeface="Courier New" pitchFamily="34" charset="-122"/>
                <a:cs typeface="Courier New" pitchFamily="34" charset="-120"/>
              </a:rPr>
              <a:t>
</a:t>
            </a:r>
            <a:r>
              <a:rPr lang="en-US" sz="950" dirty="0">
                <a:solidFill>
                  <a:srgbClr val="F77F00"/>
                </a:solidFill>
                <a:latin typeface="Courier New" pitchFamily="34" charset="0"/>
                <a:ea typeface="Courier New" pitchFamily="34" charset="-122"/>
                <a:cs typeface="Courier New" pitchFamily="34" charset="-120"/>
              </a:rPr>
              <a:t>base: '/'</a:t>
            </a:r>
            <a:r>
              <a:rPr lang="en-US" sz="950" dirty="0">
                <a:solidFill>
                  <a:srgbClr val="F7F3ED"/>
                </a:solidFill>
                <a:latin typeface="Courier New" pitchFamily="34" charset="0"/>
                <a:ea typeface="Courier New" pitchFamily="34" charset="-122"/>
                <a:cs typeface="Courier New" pitchFamily="34" charset="-120"/>
              </a:rPr>
              <a:t>
</a:t>
            </a:r>
            <a:r>
              <a:rPr lang="en-US" sz="950" dirty="0">
                <a:solidFill>
                  <a:srgbClr val="F7F3ED"/>
                </a:solidFill>
                <a:latin typeface="Courier New" pitchFamily="34" charset="0"/>
                <a:ea typeface="Courier New" pitchFamily="34" charset="-122"/>
                <a:cs typeface="Courier New" pitchFamily="34" charset="-120"/>
              </a:rPr>
              <a:t>})</a:t>
            </a:r>
            <a:endParaRPr lang="en-US" sz="950" dirty="0"/>
          </a:p>
        </p:txBody>
      </p:sp>
      <p:sp>
        <p:nvSpPr>
          <p:cNvPr id="19" name="Text 15"/>
          <p:cNvSpPr/>
          <p:nvPr/>
        </p:nvSpPr>
        <p:spPr>
          <a:xfrm>
            <a:off x="6635093" y="471488"/>
            <a:ext cx="2108802" cy="196453"/>
          </a:xfrm>
          <a:prstGeom prst="rect">
            <a:avLst/>
          </a:prstGeom>
          <a:noFill/>
          <a:ln/>
        </p:spPr>
        <p:txBody>
          <a:bodyPr wrap="none" lIns="0" tIns="0" rIns="0" bIns="0" rtlCol="0" anchor="t">
            <a:spAutoFit/>
          </a:bodyPr>
          <a:lstStyle/>
          <a:p>
            <a:pPr algn="l" indent="0" marL="0">
              <a:lnSpc>
                <a:spcPct val="88000"/>
              </a:lnSpc>
              <a:buNone/>
            </a:pPr>
            <a:r>
              <a:rPr lang="en-US" sz="1250" b="1" spc="-1" kern="0" dirty="0">
                <a:solidFill>
                  <a:srgbClr val="003049"/>
                </a:solidFill>
                <a:latin typeface="Arial" pitchFamily="34" charset="0"/>
                <a:ea typeface="Arial" pitchFamily="34" charset="-122"/>
                <a:cs typeface="Arial" pitchFamily="34" charset="-120"/>
              </a:rPr>
              <a:t>From edit to live site</a:t>
            </a:r>
            <a:endParaRPr lang="en-US" sz="1250" dirty="0"/>
          </a:p>
        </p:txBody>
      </p:sp>
      <p:sp>
        <p:nvSpPr>
          <p:cNvPr id="20" name="Shape 16"/>
          <p:cNvSpPr/>
          <p:nvPr/>
        </p:nvSpPr>
        <p:spPr>
          <a:xfrm>
            <a:off x="6813686" y="1096566"/>
            <a:ext cx="271463" cy="271463"/>
          </a:xfrm>
          <a:prstGeom prst="ellipse">
            <a:avLst/>
          </a:prstGeom>
          <a:solidFill>
            <a:srgbClr val="003049"/>
          </a:solidFill>
          <a:ln/>
        </p:spPr>
      </p:sp>
      <p:sp>
        <p:nvSpPr>
          <p:cNvPr id="21" name="Text 17"/>
          <p:cNvSpPr/>
          <p:nvPr/>
        </p:nvSpPr>
        <p:spPr>
          <a:xfrm>
            <a:off x="6813686" y="1096566"/>
            <a:ext cx="271463" cy="271463"/>
          </a:xfrm>
          <a:prstGeom prst="rect">
            <a:avLst/>
          </a:prstGeom>
          <a:noFill/>
          <a:ln/>
        </p:spPr>
        <p:txBody>
          <a:bodyPr wrap="none" lIns="0" tIns="0" rIns="0" bIns="0" rtlCol="0" anchor="ctr">
            <a:spAutoFit/>
          </a:bodyPr>
          <a:lstStyle/>
          <a:p>
            <a:pPr algn="ctr" indent="0" marL="0">
              <a:buNone/>
            </a:pPr>
            <a:r>
              <a:rPr lang="en-US" sz="750" b="1" dirty="0">
                <a:solidFill>
                  <a:srgbClr val="F7F3ED"/>
                </a:solidFill>
                <a:latin typeface="Arial" pitchFamily="34" charset="0"/>
                <a:ea typeface="Arial" pitchFamily="34" charset="-122"/>
                <a:cs typeface="Arial" pitchFamily="34" charset="-120"/>
              </a:rPr>
              <a:t>1</a:t>
            </a:r>
            <a:endParaRPr lang="en-US" sz="750" dirty="0"/>
          </a:p>
        </p:txBody>
      </p:sp>
      <p:sp>
        <p:nvSpPr>
          <p:cNvPr id="22" name="Text 18"/>
          <p:cNvSpPr/>
          <p:nvPr/>
        </p:nvSpPr>
        <p:spPr>
          <a:xfrm>
            <a:off x="7199449" y="1006934"/>
            <a:ext cx="1544445" cy="147842"/>
          </a:xfrm>
          <a:prstGeom prst="rect">
            <a:avLst/>
          </a:prstGeom>
          <a:noFill/>
          <a:ln/>
        </p:spPr>
        <p:txBody>
          <a:bodyPr wrap="none" lIns="0" tIns="0" rIns="0" bIns="0" rtlCol="0" anchor="t">
            <a:spAutoFit/>
          </a:bodyPr>
          <a:lstStyle/>
          <a:p>
            <a:pPr algn="l" indent="0" marL="0">
              <a:lnSpc>
                <a:spcPct val="92000"/>
              </a:lnSpc>
              <a:buNone/>
            </a:pPr>
            <a:r>
              <a:rPr lang="en-US" sz="900" b="1" dirty="0">
                <a:solidFill>
                  <a:srgbClr val="003049"/>
                </a:solidFill>
                <a:latin typeface="Arial" pitchFamily="34" charset="0"/>
                <a:ea typeface="Arial" pitchFamily="34" charset="-122"/>
                <a:cs typeface="Arial" pitchFamily="34" charset="-120"/>
              </a:rPr>
              <a:t>Update `vite.config.ts`</a:t>
            </a:r>
            <a:endParaRPr lang="en-US" sz="900" dirty="0"/>
          </a:p>
        </p:txBody>
      </p:sp>
      <p:sp>
        <p:nvSpPr>
          <p:cNvPr id="23" name="Text 19"/>
          <p:cNvSpPr/>
          <p:nvPr/>
        </p:nvSpPr>
        <p:spPr>
          <a:xfrm>
            <a:off x="7199449" y="1197639"/>
            <a:ext cx="1544445"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42515A"/>
                </a:solidFill>
                <a:latin typeface="Arial" pitchFamily="34" charset="0"/>
                <a:ea typeface="Arial" pitchFamily="34" charset="-122"/>
                <a:cs typeface="Arial" pitchFamily="34" charset="-120"/>
              </a:rPr>
              <a:t>Set the production asset base to `/`.</a:t>
            </a:r>
            <a:endParaRPr lang="en-US" sz="750" dirty="0"/>
          </a:p>
        </p:txBody>
      </p:sp>
      <p:sp>
        <p:nvSpPr>
          <p:cNvPr id="24" name="Shape 20"/>
          <p:cNvSpPr/>
          <p:nvPr/>
        </p:nvSpPr>
        <p:spPr>
          <a:xfrm>
            <a:off x="6813686" y="1796653"/>
            <a:ext cx="271463" cy="271463"/>
          </a:xfrm>
          <a:prstGeom prst="ellipse">
            <a:avLst/>
          </a:prstGeom>
          <a:solidFill>
            <a:srgbClr val="003049"/>
          </a:solidFill>
          <a:ln/>
        </p:spPr>
      </p:sp>
      <p:sp>
        <p:nvSpPr>
          <p:cNvPr id="25" name="Text 21"/>
          <p:cNvSpPr/>
          <p:nvPr/>
        </p:nvSpPr>
        <p:spPr>
          <a:xfrm>
            <a:off x="6813686" y="1796653"/>
            <a:ext cx="271463" cy="271463"/>
          </a:xfrm>
          <a:prstGeom prst="rect">
            <a:avLst/>
          </a:prstGeom>
          <a:noFill/>
          <a:ln/>
        </p:spPr>
        <p:txBody>
          <a:bodyPr wrap="none" lIns="0" tIns="0" rIns="0" bIns="0" rtlCol="0" anchor="ctr">
            <a:spAutoFit/>
          </a:bodyPr>
          <a:lstStyle/>
          <a:p>
            <a:pPr algn="ctr" indent="0" marL="0">
              <a:buNone/>
            </a:pPr>
            <a:r>
              <a:rPr lang="en-US" sz="750" b="1" dirty="0">
                <a:solidFill>
                  <a:srgbClr val="F7F3ED"/>
                </a:solidFill>
                <a:latin typeface="Arial" pitchFamily="34" charset="0"/>
                <a:ea typeface="Arial" pitchFamily="34" charset="-122"/>
                <a:cs typeface="Arial" pitchFamily="34" charset="-120"/>
              </a:rPr>
              <a:t>2</a:t>
            </a:r>
            <a:endParaRPr lang="en-US" sz="750" dirty="0"/>
          </a:p>
        </p:txBody>
      </p:sp>
      <p:sp>
        <p:nvSpPr>
          <p:cNvPr id="26" name="Text 22"/>
          <p:cNvSpPr/>
          <p:nvPr/>
        </p:nvSpPr>
        <p:spPr>
          <a:xfrm>
            <a:off x="7199449" y="1633128"/>
            <a:ext cx="1544445" cy="295684"/>
          </a:xfrm>
          <a:prstGeom prst="rect">
            <a:avLst/>
          </a:prstGeom>
          <a:noFill/>
          <a:ln/>
        </p:spPr>
        <p:txBody>
          <a:bodyPr wrap="square" lIns="0" tIns="0" rIns="0" bIns="0" rtlCol="0" anchor="t">
            <a:spAutoFit/>
          </a:bodyPr>
          <a:lstStyle/>
          <a:p>
            <a:pPr algn="l" indent="0" marL="0">
              <a:lnSpc>
                <a:spcPct val="92000"/>
              </a:lnSpc>
              <a:buNone/>
            </a:pPr>
            <a:r>
              <a:rPr lang="en-US" sz="900" b="1" dirty="0">
                <a:solidFill>
                  <a:srgbClr val="003049"/>
                </a:solidFill>
                <a:latin typeface="Arial" pitchFamily="34" charset="0"/>
                <a:ea typeface="Arial" pitchFamily="34" charset="-122"/>
                <a:cs typeface="Arial" pitchFamily="34" charset="-120"/>
              </a:rPr>
              <a:t>Commit and push to `main`</a:t>
            </a:r>
            <a:endParaRPr lang="en-US" sz="900" dirty="0"/>
          </a:p>
        </p:txBody>
      </p:sp>
      <p:sp>
        <p:nvSpPr>
          <p:cNvPr id="27" name="Text 23"/>
          <p:cNvSpPr/>
          <p:nvPr/>
        </p:nvSpPr>
        <p:spPr>
          <a:xfrm>
            <a:off x="7199449" y="1971675"/>
            <a:ext cx="1544445"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42515A"/>
                </a:solidFill>
                <a:latin typeface="Arial" pitchFamily="34" charset="0"/>
                <a:ea typeface="Arial" pitchFamily="34" charset="-122"/>
                <a:cs typeface="Arial" pitchFamily="34" charset="-120"/>
              </a:rPr>
              <a:t>Send the configuration change to GitHub.</a:t>
            </a:r>
            <a:endParaRPr lang="en-US" sz="750" dirty="0"/>
          </a:p>
        </p:txBody>
      </p:sp>
      <p:sp>
        <p:nvSpPr>
          <p:cNvPr id="28" name="Shape 24"/>
          <p:cNvSpPr/>
          <p:nvPr/>
        </p:nvSpPr>
        <p:spPr>
          <a:xfrm>
            <a:off x="6813686" y="2496741"/>
            <a:ext cx="271463" cy="271463"/>
          </a:xfrm>
          <a:prstGeom prst="ellipse">
            <a:avLst/>
          </a:prstGeom>
          <a:solidFill>
            <a:srgbClr val="003049"/>
          </a:solidFill>
          <a:ln/>
        </p:spPr>
      </p:sp>
      <p:sp>
        <p:nvSpPr>
          <p:cNvPr id="29" name="Text 25"/>
          <p:cNvSpPr/>
          <p:nvPr/>
        </p:nvSpPr>
        <p:spPr>
          <a:xfrm>
            <a:off x="6813686" y="2496741"/>
            <a:ext cx="271463" cy="271463"/>
          </a:xfrm>
          <a:prstGeom prst="rect">
            <a:avLst/>
          </a:prstGeom>
          <a:noFill/>
          <a:ln/>
        </p:spPr>
        <p:txBody>
          <a:bodyPr wrap="none" lIns="0" tIns="0" rIns="0" bIns="0" rtlCol="0" anchor="ctr">
            <a:spAutoFit/>
          </a:bodyPr>
          <a:lstStyle/>
          <a:p>
            <a:pPr algn="ctr" indent="0" marL="0">
              <a:buNone/>
            </a:pPr>
            <a:r>
              <a:rPr lang="en-US" sz="750" b="1" dirty="0">
                <a:solidFill>
                  <a:srgbClr val="F7F3ED"/>
                </a:solidFill>
                <a:latin typeface="Arial" pitchFamily="34" charset="0"/>
                <a:ea typeface="Arial" pitchFamily="34" charset="-122"/>
                <a:cs typeface="Arial" pitchFamily="34" charset="-120"/>
              </a:rPr>
              <a:t>3</a:t>
            </a:r>
            <a:endParaRPr lang="en-US" sz="750" dirty="0"/>
          </a:p>
        </p:txBody>
      </p:sp>
      <p:sp>
        <p:nvSpPr>
          <p:cNvPr id="30" name="Text 26"/>
          <p:cNvSpPr/>
          <p:nvPr/>
        </p:nvSpPr>
        <p:spPr>
          <a:xfrm>
            <a:off x="7199449" y="2407109"/>
            <a:ext cx="1544445" cy="147842"/>
          </a:xfrm>
          <a:prstGeom prst="rect">
            <a:avLst/>
          </a:prstGeom>
          <a:noFill/>
          <a:ln/>
        </p:spPr>
        <p:txBody>
          <a:bodyPr wrap="none" lIns="0" tIns="0" rIns="0" bIns="0" rtlCol="0" anchor="t">
            <a:spAutoFit/>
          </a:bodyPr>
          <a:lstStyle/>
          <a:p>
            <a:pPr algn="l" indent="0" marL="0">
              <a:lnSpc>
                <a:spcPct val="92000"/>
              </a:lnSpc>
              <a:buNone/>
            </a:pPr>
            <a:r>
              <a:rPr lang="en-US" sz="900" b="1" dirty="0">
                <a:solidFill>
                  <a:srgbClr val="003049"/>
                </a:solidFill>
                <a:latin typeface="Arial" pitchFamily="34" charset="0"/>
                <a:ea typeface="Arial" pitchFamily="34" charset="-122"/>
                <a:cs typeface="Arial" pitchFamily="34" charset="-120"/>
              </a:rPr>
              <a:t>Actions builds the site</a:t>
            </a:r>
            <a:endParaRPr lang="en-US" sz="900" dirty="0"/>
          </a:p>
        </p:txBody>
      </p:sp>
      <p:sp>
        <p:nvSpPr>
          <p:cNvPr id="31" name="Text 27"/>
          <p:cNvSpPr/>
          <p:nvPr/>
        </p:nvSpPr>
        <p:spPr>
          <a:xfrm>
            <a:off x="7199449" y="2597814"/>
            <a:ext cx="1544445"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42515A"/>
                </a:solidFill>
                <a:latin typeface="Arial" pitchFamily="34" charset="0"/>
                <a:ea typeface="Arial" pitchFamily="34" charset="-122"/>
                <a:cs typeface="Arial" pitchFamily="34" charset="-120"/>
              </a:rPr>
              <a:t>The existing workflow publishes the updated bundle.</a:t>
            </a:r>
            <a:endParaRPr lang="en-US" sz="750" dirty="0"/>
          </a:p>
        </p:txBody>
      </p:sp>
      <p:sp>
        <p:nvSpPr>
          <p:cNvPr id="32" name="Shape 28"/>
          <p:cNvSpPr/>
          <p:nvPr/>
        </p:nvSpPr>
        <p:spPr>
          <a:xfrm>
            <a:off x="6813686" y="3196828"/>
            <a:ext cx="271463" cy="271463"/>
          </a:xfrm>
          <a:prstGeom prst="ellipse">
            <a:avLst/>
          </a:prstGeom>
          <a:solidFill>
            <a:srgbClr val="003049"/>
          </a:solidFill>
          <a:ln/>
        </p:spPr>
      </p:sp>
      <p:sp>
        <p:nvSpPr>
          <p:cNvPr id="33" name="Text 29"/>
          <p:cNvSpPr/>
          <p:nvPr/>
        </p:nvSpPr>
        <p:spPr>
          <a:xfrm>
            <a:off x="6813686" y="3196828"/>
            <a:ext cx="271463" cy="271463"/>
          </a:xfrm>
          <a:prstGeom prst="rect">
            <a:avLst/>
          </a:prstGeom>
          <a:noFill/>
          <a:ln/>
        </p:spPr>
        <p:txBody>
          <a:bodyPr wrap="none" lIns="0" tIns="0" rIns="0" bIns="0" rtlCol="0" anchor="ctr">
            <a:spAutoFit/>
          </a:bodyPr>
          <a:lstStyle/>
          <a:p>
            <a:pPr algn="ctr" indent="0" marL="0">
              <a:buNone/>
            </a:pPr>
            <a:r>
              <a:rPr lang="en-US" sz="750" b="1" dirty="0">
                <a:solidFill>
                  <a:srgbClr val="F7F3ED"/>
                </a:solidFill>
                <a:latin typeface="Arial" pitchFamily="34" charset="0"/>
                <a:ea typeface="Arial" pitchFamily="34" charset="-122"/>
                <a:cs typeface="Arial" pitchFamily="34" charset="-120"/>
              </a:rPr>
              <a:t>4</a:t>
            </a:r>
            <a:endParaRPr lang="en-US" sz="750" dirty="0"/>
          </a:p>
        </p:txBody>
      </p:sp>
      <p:sp>
        <p:nvSpPr>
          <p:cNvPr id="34" name="Text 30"/>
          <p:cNvSpPr/>
          <p:nvPr/>
        </p:nvSpPr>
        <p:spPr>
          <a:xfrm>
            <a:off x="7199449" y="3033303"/>
            <a:ext cx="1544445" cy="295684"/>
          </a:xfrm>
          <a:prstGeom prst="rect">
            <a:avLst/>
          </a:prstGeom>
          <a:noFill/>
          <a:ln/>
        </p:spPr>
        <p:txBody>
          <a:bodyPr wrap="square" lIns="0" tIns="0" rIns="0" bIns="0" rtlCol="0" anchor="t">
            <a:spAutoFit/>
          </a:bodyPr>
          <a:lstStyle/>
          <a:p>
            <a:pPr algn="l" indent="0" marL="0">
              <a:lnSpc>
                <a:spcPct val="92000"/>
              </a:lnSpc>
              <a:buNone/>
            </a:pPr>
            <a:r>
              <a:rPr lang="en-US" sz="900" b="1" dirty="0">
                <a:solidFill>
                  <a:srgbClr val="003049"/>
                </a:solidFill>
                <a:latin typeface="Arial" pitchFamily="34" charset="0"/>
                <a:ea typeface="Arial" pitchFamily="34" charset="-122"/>
                <a:cs typeface="Arial" pitchFamily="34" charset="-120"/>
              </a:rPr>
              <a:t>Confirm a green deployment</a:t>
            </a:r>
            <a:endParaRPr lang="en-US" sz="900" dirty="0"/>
          </a:p>
        </p:txBody>
      </p:sp>
      <p:sp>
        <p:nvSpPr>
          <p:cNvPr id="35" name="Text 31"/>
          <p:cNvSpPr/>
          <p:nvPr/>
        </p:nvSpPr>
        <p:spPr>
          <a:xfrm>
            <a:off x="7199449" y="3371850"/>
            <a:ext cx="1544445" cy="259966"/>
          </a:xfrm>
          <a:prstGeom prst="rect">
            <a:avLst/>
          </a:prstGeom>
          <a:noFill/>
          <a:ln/>
        </p:spPr>
        <p:txBody>
          <a:bodyPr wrap="square" lIns="0" tIns="0" rIns="0" bIns="0" rtlCol="0" anchor="t">
            <a:spAutoFit/>
          </a:bodyPr>
          <a:lstStyle/>
          <a:p>
            <a:pPr algn="l" indent="0" marL="0">
              <a:lnSpc>
                <a:spcPct val="104000"/>
              </a:lnSpc>
              <a:buNone/>
            </a:pPr>
            <a:r>
              <a:rPr lang="en-US" sz="750" dirty="0">
                <a:solidFill>
                  <a:srgbClr val="42515A"/>
                </a:solidFill>
                <a:latin typeface="Arial" pitchFamily="34" charset="0"/>
                <a:ea typeface="Arial" pitchFamily="34" charset="-122"/>
                <a:cs typeface="Arial" pitchFamily="34" charset="-120"/>
              </a:rPr>
              <a:t>Open the Actions tab before testing the domain.</a:t>
            </a:r>
            <a:endParaRPr lang="en-US" sz="750" dirty="0"/>
          </a:p>
        </p:txBody>
      </p:sp>
      <p:sp>
        <p:nvSpPr>
          <p:cNvPr id="36" name="Text 32"/>
          <p:cNvSpPr/>
          <p:nvPr/>
        </p:nvSpPr>
        <p:spPr>
          <a:xfrm>
            <a:off x="6635093" y="3825478"/>
            <a:ext cx="2108802" cy="347086"/>
          </a:xfrm>
          <a:prstGeom prst="rect">
            <a:avLst/>
          </a:prstGeom>
          <a:noFill/>
          <a:ln/>
        </p:spPr>
        <p:txBody>
          <a:bodyPr wrap="square" lIns="0" tIns="0" rIns="0" bIns="0" rtlCol="0" anchor="t">
            <a:spAutoFit/>
          </a:bodyPr>
          <a:lstStyle/>
          <a:p>
            <a:pPr algn="l" indent="0" marL="0">
              <a:lnSpc>
                <a:spcPct val="108000"/>
              </a:lnSpc>
              <a:buNone/>
            </a:pPr>
            <a:r>
              <a:rPr lang="en-US" sz="600" b="1" dirty="0">
                <a:solidFill>
                  <a:srgbClr val="61757F"/>
                </a:solidFill>
                <a:latin typeface="Arial" pitchFamily="34" charset="0"/>
                <a:ea typeface="Arial" pitchFamily="34" charset="-122"/>
                <a:cs typeface="Arial" pitchFamily="34" charset="-120"/>
              </a:rPr>
              <a:t>Why it matters: `/neversus/` would make CSS and JavaScript requests point to a folder that does not exist on `stackwright.online`.</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42925" y="400050"/>
            <a:ext cx="414338" cy="414338"/>
          </a:xfrm>
          <a:prstGeom prst="ellipse">
            <a:avLst/>
          </a:prstGeom>
          <a:solidFill>
            <a:srgbClr val="F77F00"/>
          </a:solidFill>
          <a:ln/>
        </p:spPr>
      </p:sp>
      <p:sp>
        <p:nvSpPr>
          <p:cNvPr id="5" name="Text 1"/>
          <p:cNvSpPr/>
          <p:nvPr/>
        </p:nvSpPr>
        <p:spPr>
          <a:xfrm>
            <a:off x="542925" y="400050"/>
            <a:ext cx="414338" cy="414338"/>
          </a:xfrm>
          <a:prstGeom prst="rect">
            <a:avLst/>
          </a:prstGeom>
          <a:noFill/>
          <a:ln/>
        </p:spPr>
        <p:txBody>
          <a:bodyPr wrap="none" lIns="0" tIns="0" rIns="0" bIns="0" rtlCol="0" anchor="ctr">
            <a:spAutoFit/>
          </a:bodyPr>
          <a:lstStyle/>
          <a:p>
            <a:pPr algn="ctr" indent="0" marL="0">
              <a:buNone/>
            </a:pPr>
            <a:r>
              <a:rPr lang="en-US" sz="1200" b="1" dirty="0">
                <a:solidFill>
                  <a:srgbClr val="003049"/>
                </a:solidFill>
                <a:latin typeface="Arial" pitchFamily="34" charset="0"/>
                <a:ea typeface="Arial" pitchFamily="34" charset="-122"/>
                <a:cs typeface="Arial" pitchFamily="34" charset="-120"/>
              </a:rPr>
              <a:t>07</a:t>
            </a:r>
            <a:endParaRPr lang="en-US" sz="1200" dirty="0"/>
          </a:p>
        </p:txBody>
      </p:sp>
      <p:sp>
        <p:nvSpPr>
          <p:cNvPr id="6" name="Text 2"/>
          <p:cNvSpPr/>
          <p:nvPr/>
        </p:nvSpPr>
        <p:spPr>
          <a:xfrm>
            <a:off x="1128713" y="439341"/>
            <a:ext cx="4683509" cy="335756"/>
          </a:xfrm>
          <a:prstGeom prst="rect">
            <a:avLst/>
          </a:prstGeom>
          <a:noFill/>
          <a:ln/>
        </p:spPr>
        <p:txBody>
          <a:bodyPr wrap="none" lIns="0" tIns="0" rIns="0" bIns="0" rtlCol="0" anchor="t">
            <a:spAutoFit/>
          </a:bodyPr>
          <a:lstStyle/>
          <a:p>
            <a:pPr algn="l" indent="0" marL="0">
              <a:lnSpc>
                <a:spcPct val="80000"/>
              </a:lnSpc>
              <a:buNone/>
            </a:pPr>
            <a:r>
              <a:rPr lang="en-US" sz="2400" b="1" spc="-2" kern="0" dirty="0">
                <a:solidFill>
                  <a:srgbClr val="003049"/>
                </a:solidFill>
                <a:latin typeface="Arial" pitchFamily="34" charset="0"/>
                <a:ea typeface="Arial" pitchFamily="34" charset="-122"/>
                <a:cs typeface="Arial" pitchFamily="34" charset="-120"/>
              </a:rPr>
              <a:t>Verify DNS, then enforce HTTPS</a:t>
            </a:r>
            <a:endParaRPr lang="en-US" sz="2400" dirty="0"/>
          </a:p>
        </p:txBody>
      </p:sp>
      <p:sp>
        <p:nvSpPr>
          <p:cNvPr id="7" name="Text 3"/>
          <p:cNvSpPr/>
          <p:nvPr/>
        </p:nvSpPr>
        <p:spPr>
          <a:xfrm>
            <a:off x="1128713" y="914400"/>
            <a:ext cx="5857875" cy="385763"/>
          </a:xfrm>
          <a:prstGeom prst="rect">
            <a:avLst/>
          </a:prstGeom>
          <a:noFill/>
          <a:ln/>
        </p:spPr>
        <p:txBody>
          <a:bodyPr wrap="square" lIns="0" tIns="0" rIns="0" bIns="0" rtlCol="0" anchor="t">
            <a:spAutoFit/>
          </a:bodyPr>
          <a:lstStyle/>
          <a:p>
            <a:pPr algn="l" indent="0" marL="0">
              <a:lnSpc>
                <a:spcPct val="108000"/>
              </a:lnSpc>
              <a:buNone/>
            </a:pPr>
            <a:r>
              <a:rPr lang="en-US" sz="1050" dirty="0">
                <a:solidFill>
                  <a:srgbClr val="42515A"/>
                </a:solidFill>
                <a:latin typeface="Arial" pitchFamily="34" charset="0"/>
                <a:ea typeface="Arial" pitchFamily="34" charset="-122"/>
                <a:cs typeface="Arial" pitchFamily="34" charset="-120"/>
              </a:rPr>
              <a:t>The site becomes launch-ready only after Namecheap is resolving to GitHub Pages and GitHub has issued the TLS certificate.</a:t>
            </a:r>
            <a:endParaRPr lang="en-US" sz="1050" dirty="0"/>
          </a:p>
        </p:txBody>
      </p:sp>
      <p:sp>
        <p:nvSpPr>
          <p:cNvPr id="8" name="Shape 4"/>
          <p:cNvSpPr/>
          <p:nvPr/>
        </p:nvSpPr>
        <p:spPr>
          <a:xfrm>
            <a:off x="542925" y="1743075"/>
            <a:ext cx="657225" cy="657225"/>
          </a:xfrm>
          <a:prstGeom prst="ellipse">
            <a:avLst/>
          </a:prstGeom>
          <a:solidFill>
            <a:srgbClr val="F77F00"/>
          </a:solidFill>
          <a:ln/>
        </p:spPr>
      </p:sp>
      <p:sp>
        <p:nvSpPr>
          <p:cNvPr id="9" name="Text 5"/>
          <p:cNvSpPr/>
          <p:nvPr/>
        </p:nvSpPr>
        <p:spPr>
          <a:xfrm>
            <a:off x="542925" y="1743075"/>
            <a:ext cx="657225" cy="657225"/>
          </a:xfrm>
          <a:prstGeom prst="rect">
            <a:avLst/>
          </a:prstGeom>
          <a:noFill/>
          <a:ln/>
        </p:spPr>
        <p:txBody>
          <a:bodyPr wrap="none" lIns="0" tIns="0" rIns="0" bIns="0" rtlCol="0" anchor="ctr">
            <a:spAutoFit/>
          </a:bodyPr>
          <a:lstStyle/>
          <a:p>
            <a:pPr algn="ctr" indent="0" marL="0">
              <a:buNone/>
            </a:pPr>
            <a:r>
              <a:rPr lang="en-US" sz="1400" b="1" dirty="0">
                <a:solidFill>
                  <a:srgbClr val="003049"/>
                </a:solidFill>
                <a:latin typeface="Arial" pitchFamily="34" charset="0"/>
                <a:ea typeface="Arial" pitchFamily="34" charset="-122"/>
                <a:cs typeface="Arial" pitchFamily="34" charset="-120"/>
              </a:rPr>
              <a:t>01</a:t>
            </a:r>
            <a:endParaRPr lang="en-US" sz="1400" dirty="0"/>
          </a:p>
        </p:txBody>
      </p:sp>
      <p:sp>
        <p:nvSpPr>
          <p:cNvPr id="10" name="Text 6"/>
          <p:cNvSpPr/>
          <p:nvPr/>
        </p:nvSpPr>
        <p:spPr>
          <a:xfrm>
            <a:off x="542925" y="2557463"/>
            <a:ext cx="2138325" cy="196453"/>
          </a:xfrm>
          <a:prstGeom prst="rect">
            <a:avLst/>
          </a:prstGeom>
          <a:noFill/>
          <a:ln/>
        </p:spPr>
        <p:txBody>
          <a:bodyPr wrap="square" lIns="0" tIns="0" rIns="0" bIns="0" rtlCol="0" anchor="t">
            <a:spAutoFit/>
          </a:bodyPr>
          <a:lstStyle/>
          <a:p>
            <a:pPr algn="l" indent="0" marL="0">
              <a:buNone/>
            </a:pPr>
            <a:r>
              <a:rPr lang="en-US" sz="1200" b="1" spc="-1" kern="0" dirty="0">
                <a:solidFill>
                  <a:srgbClr val="003049"/>
                </a:solidFill>
                <a:latin typeface="Arial" pitchFamily="34" charset="0"/>
                <a:ea typeface="Arial" pitchFamily="34" charset="-122"/>
                <a:cs typeface="Arial" pitchFamily="34" charset="-120"/>
              </a:rPr>
              <a:t>Allow propagation</a:t>
            </a:r>
            <a:endParaRPr lang="en-US" sz="1200" dirty="0"/>
          </a:p>
        </p:txBody>
      </p:sp>
      <p:sp>
        <p:nvSpPr>
          <p:cNvPr id="11" name="Text 7"/>
          <p:cNvSpPr/>
          <p:nvPr/>
        </p:nvSpPr>
        <p:spPr>
          <a:xfrm>
            <a:off x="542925" y="2825353"/>
            <a:ext cx="1857375" cy="679996"/>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42515A"/>
                </a:solidFill>
                <a:latin typeface="Arial" pitchFamily="34" charset="0"/>
                <a:ea typeface="Arial" pitchFamily="34" charset="-122"/>
                <a:cs typeface="Arial" pitchFamily="34" charset="-120"/>
              </a:rPr>
              <a:t>Namecheap says new records commonly take about 30 minutes; GitHub notes DNS can take up to 24 hours.</a:t>
            </a:r>
            <a:endParaRPr lang="en-US" sz="900" dirty="0"/>
          </a:p>
        </p:txBody>
      </p:sp>
      <p:sp>
        <p:nvSpPr>
          <p:cNvPr id="12" name="Shape 8"/>
          <p:cNvSpPr/>
          <p:nvPr/>
        </p:nvSpPr>
        <p:spPr>
          <a:xfrm>
            <a:off x="2681250" y="2064544"/>
            <a:ext cx="821531" cy="14288"/>
          </a:xfrm>
          <a:prstGeom prst="rect">
            <a:avLst/>
          </a:prstGeom>
          <a:solidFill>
            <a:srgbClr val="7F9AA8"/>
          </a:solidFill>
          <a:ln/>
        </p:spPr>
      </p:sp>
      <p:sp>
        <p:nvSpPr>
          <p:cNvPr id="13" name="Shape 9"/>
          <p:cNvSpPr/>
          <p:nvPr/>
        </p:nvSpPr>
        <p:spPr>
          <a:xfrm>
            <a:off x="3409913" y="2028825"/>
            <a:ext cx="92869" cy="92869"/>
          </a:xfrm>
          <a:prstGeom prst="ellipse">
            <a:avLst/>
          </a:prstGeom>
          <a:solidFill>
            <a:srgbClr val="F77F00"/>
          </a:solidFill>
          <a:ln/>
        </p:spPr>
      </p:sp>
      <p:sp>
        <p:nvSpPr>
          <p:cNvPr id="14" name="Shape 10"/>
          <p:cNvSpPr/>
          <p:nvPr/>
        </p:nvSpPr>
        <p:spPr>
          <a:xfrm>
            <a:off x="3502782" y="1743075"/>
            <a:ext cx="657225" cy="657225"/>
          </a:xfrm>
          <a:prstGeom prst="ellipse">
            <a:avLst/>
          </a:prstGeom>
          <a:solidFill>
            <a:srgbClr val="003049"/>
          </a:solidFill>
          <a:ln/>
        </p:spPr>
      </p:sp>
      <p:sp>
        <p:nvSpPr>
          <p:cNvPr id="15" name="Text 11"/>
          <p:cNvSpPr/>
          <p:nvPr/>
        </p:nvSpPr>
        <p:spPr>
          <a:xfrm>
            <a:off x="3502782" y="1743075"/>
            <a:ext cx="657225" cy="657225"/>
          </a:xfrm>
          <a:prstGeom prst="rect">
            <a:avLst/>
          </a:prstGeom>
          <a:noFill/>
          <a:ln/>
        </p:spPr>
        <p:txBody>
          <a:bodyPr wrap="none" lIns="0" tIns="0" rIns="0" bIns="0" rtlCol="0" anchor="ctr">
            <a:spAutoFit/>
          </a:bodyPr>
          <a:lstStyle/>
          <a:p>
            <a:pPr algn="ctr" indent="0" marL="0">
              <a:buNone/>
            </a:pPr>
            <a:r>
              <a:rPr lang="en-US" sz="1400" b="1" dirty="0">
                <a:solidFill>
                  <a:srgbClr val="F7F3ED"/>
                </a:solidFill>
                <a:latin typeface="Arial" pitchFamily="34" charset="0"/>
                <a:ea typeface="Arial" pitchFamily="34" charset="-122"/>
                <a:cs typeface="Arial" pitchFamily="34" charset="-120"/>
              </a:rPr>
              <a:t>02</a:t>
            </a:r>
            <a:endParaRPr lang="en-US" sz="1400" dirty="0"/>
          </a:p>
        </p:txBody>
      </p:sp>
      <p:sp>
        <p:nvSpPr>
          <p:cNvPr id="16" name="Text 12"/>
          <p:cNvSpPr/>
          <p:nvPr/>
        </p:nvSpPr>
        <p:spPr>
          <a:xfrm>
            <a:off x="3502782" y="2557463"/>
            <a:ext cx="2138381" cy="196453"/>
          </a:xfrm>
          <a:prstGeom prst="rect">
            <a:avLst/>
          </a:prstGeom>
          <a:noFill/>
          <a:ln/>
        </p:spPr>
        <p:txBody>
          <a:bodyPr wrap="square" lIns="0" tIns="0" rIns="0" bIns="0" rtlCol="0" anchor="t">
            <a:spAutoFit/>
          </a:bodyPr>
          <a:lstStyle/>
          <a:p>
            <a:pPr algn="l" indent="0" marL="0">
              <a:buNone/>
            </a:pPr>
            <a:r>
              <a:rPr lang="en-US" sz="1200" b="1" spc="-1" kern="0" dirty="0">
                <a:solidFill>
                  <a:srgbClr val="003049"/>
                </a:solidFill>
                <a:latin typeface="Arial" pitchFamily="34" charset="0"/>
                <a:ea typeface="Arial" pitchFamily="34" charset="-122"/>
                <a:cs typeface="Arial" pitchFamily="34" charset="-120"/>
              </a:rPr>
              <a:t>Confirm the A records</a:t>
            </a:r>
            <a:endParaRPr lang="en-US" sz="1200" dirty="0"/>
          </a:p>
        </p:txBody>
      </p:sp>
      <p:sp>
        <p:nvSpPr>
          <p:cNvPr id="17" name="Text 13"/>
          <p:cNvSpPr/>
          <p:nvPr/>
        </p:nvSpPr>
        <p:spPr>
          <a:xfrm>
            <a:off x="3502782" y="2825353"/>
            <a:ext cx="1857375" cy="509997"/>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42515A"/>
                </a:solidFill>
                <a:latin typeface="Arial" pitchFamily="34" charset="0"/>
                <a:ea typeface="Arial" pitchFamily="34" charset="-122"/>
                <a:cs typeface="Arial" pitchFamily="34" charset="-120"/>
              </a:rPr>
              <a:t>Check that the four responses resolve to GitHub Pages: 185.199.108–111.153.</a:t>
            </a:r>
            <a:endParaRPr lang="en-US" sz="900" dirty="0"/>
          </a:p>
        </p:txBody>
      </p:sp>
      <p:sp>
        <p:nvSpPr>
          <p:cNvPr id="18" name="Shape 14"/>
          <p:cNvSpPr/>
          <p:nvPr/>
        </p:nvSpPr>
        <p:spPr>
          <a:xfrm>
            <a:off x="5641163" y="2064544"/>
            <a:ext cx="821531" cy="14288"/>
          </a:xfrm>
          <a:prstGeom prst="rect">
            <a:avLst/>
          </a:prstGeom>
          <a:solidFill>
            <a:srgbClr val="7F9AA8"/>
          </a:solidFill>
          <a:ln/>
        </p:spPr>
      </p:sp>
      <p:sp>
        <p:nvSpPr>
          <p:cNvPr id="19" name="Shape 15"/>
          <p:cNvSpPr/>
          <p:nvPr/>
        </p:nvSpPr>
        <p:spPr>
          <a:xfrm>
            <a:off x="6369825" y="2028825"/>
            <a:ext cx="92869" cy="92869"/>
          </a:xfrm>
          <a:prstGeom prst="ellipse">
            <a:avLst/>
          </a:prstGeom>
          <a:solidFill>
            <a:srgbClr val="F77F00"/>
          </a:solidFill>
          <a:ln/>
        </p:spPr>
      </p:sp>
      <p:sp>
        <p:nvSpPr>
          <p:cNvPr id="20" name="Shape 16"/>
          <p:cNvSpPr/>
          <p:nvPr/>
        </p:nvSpPr>
        <p:spPr>
          <a:xfrm>
            <a:off x="6462694" y="1743075"/>
            <a:ext cx="657225" cy="657225"/>
          </a:xfrm>
          <a:prstGeom prst="ellipse">
            <a:avLst/>
          </a:prstGeom>
          <a:solidFill>
            <a:srgbClr val="EEF4F6"/>
          </a:solidFill>
          <a:ln w="18288">
            <a:solidFill>
              <a:srgbClr val="003049"/>
            </a:solidFill>
            <a:prstDash val="solid"/>
          </a:ln>
        </p:spPr>
      </p:sp>
      <p:sp>
        <p:nvSpPr>
          <p:cNvPr id="21" name="Text 17"/>
          <p:cNvSpPr/>
          <p:nvPr/>
        </p:nvSpPr>
        <p:spPr>
          <a:xfrm>
            <a:off x="6462694" y="1743075"/>
            <a:ext cx="657225" cy="657225"/>
          </a:xfrm>
          <a:prstGeom prst="rect">
            <a:avLst/>
          </a:prstGeom>
          <a:noFill/>
          <a:ln/>
        </p:spPr>
        <p:txBody>
          <a:bodyPr wrap="none" lIns="0" tIns="0" rIns="0" bIns="0" rtlCol="0" anchor="ctr">
            <a:spAutoFit/>
          </a:bodyPr>
          <a:lstStyle/>
          <a:p>
            <a:pPr algn="ctr" indent="0" marL="0">
              <a:buNone/>
            </a:pPr>
            <a:r>
              <a:rPr lang="en-US" sz="1000" b="1" dirty="0">
                <a:solidFill>
                  <a:srgbClr val="003049"/>
                </a:solidFill>
                <a:latin typeface="Arial" pitchFamily="34" charset="0"/>
                <a:ea typeface="Arial" pitchFamily="34" charset="-122"/>
                <a:cs typeface="Arial" pitchFamily="34" charset="-120"/>
              </a:rPr>
              <a:t>HTTPS</a:t>
            </a:r>
            <a:endParaRPr lang="en-US" sz="1000" dirty="0"/>
          </a:p>
        </p:txBody>
      </p:sp>
      <p:sp>
        <p:nvSpPr>
          <p:cNvPr id="22" name="Text 18"/>
          <p:cNvSpPr/>
          <p:nvPr/>
        </p:nvSpPr>
        <p:spPr>
          <a:xfrm>
            <a:off x="6462694" y="2557463"/>
            <a:ext cx="2138381" cy="196453"/>
          </a:xfrm>
          <a:prstGeom prst="rect">
            <a:avLst/>
          </a:prstGeom>
          <a:noFill/>
          <a:ln/>
        </p:spPr>
        <p:txBody>
          <a:bodyPr wrap="square" lIns="0" tIns="0" rIns="0" bIns="0" rtlCol="0" anchor="t">
            <a:spAutoFit/>
          </a:bodyPr>
          <a:lstStyle/>
          <a:p>
            <a:pPr algn="l" indent="0" marL="0">
              <a:buNone/>
            </a:pPr>
            <a:r>
              <a:rPr lang="en-US" sz="1200" b="1" spc="-1" kern="0" dirty="0">
                <a:solidFill>
                  <a:srgbClr val="003049"/>
                </a:solidFill>
                <a:latin typeface="Arial" pitchFamily="34" charset="0"/>
                <a:ea typeface="Arial" pitchFamily="34" charset="-122"/>
                <a:cs typeface="Arial" pitchFamily="34" charset="-120"/>
              </a:rPr>
              <a:t>Activate encryption</a:t>
            </a:r>
            <a:endParaRPr lang="en-US" sz="1200" dirty="0"/>
          </a:p>
        </p:txBody>
      </p:sp>
      <p:sp>
        <p:nvSpPr>
          <p:cNvPr id="23" name="Text 19"/>
          <p:cNvSpPr/>
          <p:nvPr/>
        </p:nvSpPr>
        <p:spPr>
          <a:xfrm>
            <a:off x="6462694" y="2825353"/>
            <a:ext cx="1857375" cy="509997"/>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42515A"/>
                </a:solidFill>
                <a:latin typeface="Arial" pitchFamily="34" charset="0"/>
                <a:ea typeface="Arial" pitchFamily="34" charset="-122"/>
                <a:cs typeface="Arial" pitchFamily="34" charset="-120"/>
              </a:rPr>
              <a:t>In GitHub </a:t>
            </a:r>
            <a:r>
              <a:rPr lang="en-US" sz="850" b="1" dirty="0">
                <a:solidFill>
                  <a:srgbClr val="42515A"/>
                </a:solidFill>
                <a:latin typeface="Arial" pitchFamily="34" charset="0"/>
                <a:ea typeface="Arial" pitchFamily="34" charset="-122"/>
                <a:cs typeface="Arial" pitchFamily="34" charset="-120"/>
              </a:rPr>
              <a:t>Settings → Pages</a:t>
            </a:r>
            <a:r>
              <a:rPr lang="en-US" sz="900" dirty="0">
                <a:solidFill>
                  <a:srgbClr val="42515A"/>
                </a:solidFill>
                <a:latin typeface="Arial" pitchFamily="34" charset="0"/>
                <a:ea typeface="Arial" pitchFamily="34" charset="-122"/>
                <a:cs typeface="Arial" pitchFamily="34" charset="-120"/>
              </a:rPr>
              <a:t>, </a:t>
            </a:r>
            <a:r>
              <a:rPr lang="en-US" sz="900" dirty="0">
                <a:solidFill>
                  <a:srgbClr val="42515A"/>
                </a:solidFill>
                <a:latin typeface="Arial" pitchFamily="34" charset="0"/>
                <a:ea typeface="Arial" pitchFamily="34" charset="-122"/>
                <a:cs typeface="Arial" pitchFamily="34" charset="-120"/>
              </a:rPr>
              <a:t>enable </a:t>
            </a:r>
            <a:r>
              <a:rPr lang="en-US" sz="850" b="1" dirty="0">
                <a:solidFill>
                  <a:srgbClr val="42515A"/>
                </a:solidFill>
                <a:latin typeface="Arial" pitchFamily="34" charset="0"/>
                <a:ea typeface="Arial" pitchFamily="34" charset="-122"/>
                <a:cs typeface="Arial" pitchFamily="34" charset="-120"/>
              </a:rPr>
              <a:t>Enforce HTTPS</a:t>
            </a:r>
            <a:r>
              <a:rPr lang="en-US" sz="900" dirty="0">
                <a:solidFill>
                  <a:srgbClr val="42515A"/>
                </a:solidFill>
                <a:latin typeface="Arial" pitchFamily="34" charset="0"/>
                <a:ea typeface="Arial" pitchFamily="34" charset="-122"/>
                <a:cs typeface="Arial" pitchFamily="34" charset="-120"/>
              </a:rPr>
              <a:t> once the </a:t>
            </a:r>
            <a:r>
              <a:rPr lang="en-US" sz="900" dirty="0">
                <a:solidFill>
                  <a:srgbClr val="42515A"/>
                </a:solidFill>
                <a:latin typeface="Arial" pitchFamily="34" charset="0"/>
                <a:ea typeface="Arial" pitchFamily="34" charset="-122"/>
                <a:cs typeface="Arial" pitchFamily="34" charset="-120"/>
              </a:rPr>
              <a:t>certificate shows as ready.</a:t>
            </a:r>
            <a:endParaRPr lang="en-US" sz="900" dirty="0"/>
          </a:p>
        </p:txBody>
      </p:sp>
      <p:sp>
        <p:nvSpPr>
          <p:cNvPr id="24" name="Shape 20"/>
          <p:cNvSpPr/>
          <p:nvPr/>
        </p:nvSpPr>
        <p:spPr>
          <a:xfrm>
            <a:off x="1128713" y="3762524"/>
            <a:ext cx="7472363" cy="457200"/>
          </a:xfrm>
          <a:prstGeom prst="rect">
            <a:avLst/>
          </a:prstGeom>
          <a:solidFill>
            <a:srgbClr val="003049"/>
          </a:solidFill>
          <a:ln/>
        </p:spPr>
      </p:sp>
      <p:sp>
        <p:nvSpPr>
          <p:cNvPr id="25" name="Text 21"/>
          <p:cNvSpPr/>
          <p:nvPr/>
        </p:nvSpPr>
        <p:spPr>
          <a:xfrm>
            <a:off x="1328738" y="3910757"/>
            <a:ext cx="85781" cy="160734"/>
          </a:xfrm>
          <a:prstGeom prst="rect">
            <a:avLst/>
          </a:prstGeom>
          <a:noFill/>
          <a:ln/>
        </p:spPr>
        <p:txBody>
          <a:bodyPr wrap="none" lIns="0" tIns="0" rIns="0" bIns="0" rtlCol="0" anchor="t">
            <a:spAutoFit/>
          </a:bodyPr>
          <a:lstStyle/>
          <a:p>
            <a:pPr algn="l" indent="0" marL="0">
              <a:buNone/>
            </a:pPr>
            <a:r>
              <a:rPr lang="en-US" sz="1000" b="1" dirty="0">
                <a:solidFill>
                  <a:srgbClr val="F77F00"/>
                </a:solidFill>
                <a:latin typeface="Courier New" pitchFamily="34" charset="0"/>
                <a:ea typeface="Courier New" pitchFamily="34" charset="-122"/>
                <a:cs typeface="Courier New" pitchFamily="34" charset="-120"/>
              </a:rPr>
              <a:t>$</a:t>
            </a:r>
            <a:endParaRPr lang="en-US" sz="1000" dirty="0"/>
          </a:p>
        </p:txBody>
      </p:sp>
      <p:sp>
        <p:nvSpPr>
          <p:cNvPr id="26" name="Text 22"/>
          <p:cNvSpPr/>
          <p:nvPr/>
        </p:nvSpPr>
        <p:spPr>
          <a:xfrm>
            <a:off x="1521675" y="3910757"/>
            <a:ext cx="3601064" cy="160734"/>
          </a:xfrm>
          <a:prstGeom prst="rect">
            <a:avLst/>
          </a:prstGeom>
          <a:noFill/>
          <a:ln/>
        </p:spPr>
        <p:txBody>
          <a:bodyPr wrap="square" lIns="0" tIns="0" rIns="0" bIns="0" rtlCol="0" anchor="t">
            <a:spAutoFit/>
          </a:bodyPr>
          <a:lstStyle/>
          <a:p>
            <a:pPr algn="l" indent="0" marL="0">
              <a:buNone/>
            </a:pPr>
            <a:r>
              <a:rPr lang="en-US" sz="1000" b="1" dirty="0">
                <a:solidFill>
                  <a:srgbClr val="D6E2E9"/>
                </a:solidFill>
                <a:latin typeface="Courier New" pitchFamily="34" charset="0"/>
                <a:ea typeface="Courier New" pitchFamily="34" charset="-122"/>
                <a:cs typeface="Courier New" pitchFamily="34" charset="-120"/>
              </a:rPr>
              <a:t>dig stackwright.online +noall +answer -t A</a:t>
            </a:r>
            <a:endParaRPr lang="en-US" sz="1000" dirty="0"/>
          </a:p>
        </p:txBody>
      </p:sp>
      <p:sp>
        <p:nvSpPr>
          <p:cNvPr id="27" name="Text 23"/>
          <p:cNvSpPr/>
          <p:nvPr/>
        </p:nvSpPr>
        <p:spPr>
          <a:xfrm>
            <a:off x="1128713" y="4405461"/>
            <a:ext cx="5500688" cy="289322"/>
          </a:xfrm>
          <a:prstGeom prst="rect">
            <a:avLst/>
          </a:prstGeom>
          <a:noFill/>
          <a:ln/>
        </p:spPr>
        <p:txBody>
          <a:bodyPr wrap="square" lIns="0" tIns="0" rIns="0" bIns="0" rtlCol="0" anchor="t">
            <a:spAutoFit/>
          </a:bodyPr>
          <a:lstStyle/>
          <a:p>
            <a:pPr algn="l" indent="0" marL="0">
              <a:lnSpc>
                <a:spcPct val="108000"/>
              </a:lnSpc>
              <a:buNone/>
            </a:pPr>
            <a:r>
              <a:rPr lang="en-US" sz="750" b="1" dirty="0">
                <a:solidFill>
                  <a:srgbClr val="003049"/>
                </a:solidFill>
                <a:latin typeface="Arial" pitchFamily="34" charset="0"/>
                <a:ea typeface="Arial" pitchFamily="34" charset="-122"/>
                <a:cs typeface="Arial" pitchFamily="34" charset="-120"/>
              </a:rPr>
              <a:t>Expected result:</a:t>
            </a:r>
            <a:r>
              <a:rPr lang="en-US" sz="800" dirty="0">
                <a:solidFill>
                  <a:srgbClr val="42515A"/>
                </a:solidFill>
                <a:latin typeface="Arial" pitchFamily="34" charset="0"/>
                <a:ea typeface="Arial" pitchFamily="34" charset="-122"/>
                <a:cs typeface="Arial" pitchFamily="34" charset="-120"/>
              </a:rPr>
              <a:t> `https://stackwright.online` loads with a valid lock icon; the `www` companion follows the </a:t>
            </a:r>
            <a:r>
              <a:rPr lang="en-US" sz="800" dirty="0">
                <a:solidFill>
                  <a:srgbClr val="42515A"/>
                </a:solidFill>
                <a:latin typeface="Arial" pitchFamily="34" charset="0"/>
                <a:ea typeface="Arial" pitchFamily="34" charset="-122"/>
                <a:cs typeface="Arial" pitchFamily="34" charset="-120"/>
              </a:rPr>
              <a:t>configured GitHub Pages redirect.</a:t>
            </a:r>
            <a:endParaRPr lang="en-US" sz="750" dirty="0"/>
          </a:p>
        </p:txBody>
      </p:sp>
      <p:sp>
        <p:nvSpPr>
          <p:cNvPr id="28" name="Text 24"/>
          <p:cNvSpPr/>
          <p:nvPr/>
        </p:nvSpPr>
        <p:spPr>
          <a:xfrm>
            <a:off x="6958013" y="4405461"/>
            <a:ext cx="1643063" cy="578476"/>
          </a:xfrm>
          <a:prstGeom prst="rect">
            <a:avLst/>
          </a:prstGeom>
          <a:noFill/>
          <a:ln/>
        </p:spPr>
        <p:txBody>
          <a:bodyPr wrap="square" lIns="0" tIns="0" rIns="0" bIns="0" rtlCol="0" anchor="t">
            <a:spAutoFit/>
          </a:bodyPr>
          <a:lstStyle/>
          <a:p>
            <a:pPr algn="r" indent="0" marL="0">
              <a:lnSpc>
                <a:spcPct val="108000"/>
              </a:lnSpc>
              <a:buNone/>
            </a:pPr>
            <a:r>
              <a:rPr lang="en-US" sz="600" b="1" dirty="0">
                <a:solidFill>
                  <a:srgbClr val="61757F"/>
                </a:solidFill>
                <a:latin typeface="Arial" pitchFamily="34" charset="0"/>
                <a:ea typeface="Arial" pitchFamily="34" charset="-122"/>
                <a:cs typeface="Arial" pitchFamily="34" charset="-120"/>
              </a:rPr>
              <a:t>[2] GitHub Docs — Managing a custom </a:t>
            </a:r>
            <a:r>
              <a:rPr lang="en-US" sz="600" b="1" dirty="0">
                <a:solidFill>
                  <a:srgbClr val="61757F"/>
                </a:solidFill>
                <a:latin typeface="Arial" pitchFamily="34" charset="0"/>
                <a:ea typeface="Arial" pitchFamily="34" charset="-122"/>
                <a:cs typeface="Arial" pitchFamily="34" charset="-120"/>
              </a:rPr>
              <a:t>domain</a:t>
            </a:r>
            <a:r>
              <a:rPr lang="en-US" sz="600" b="1" dirty="0">
                <a:solidFill>
                  <a:srgbClr val="61757F"/>
                </a:solidFill>
                <a:latin typeface="Arial" pitchFamily="34" charset="0"/>
                <a:ea typeface="Arial" pitchFamily="34" charset="-122"/>
                <a:cs typeface="Arial" pitchFamily="34" charset="-120"/>
              </a:rPr>
              <a:t>
</a:t>
            </a:r>
            <a:r>
              <a:rPr lang="en-US" sz="600" b="1" dirty="0">
                <a:solidFill>
                  <a:srgbClr val="61757F"/>
                </a:solidFill>
                <a:latin typeface="Arial" pitchFamily="34" charset="0"/>
                <a:ea typeface="Arial" pitchFamily="34" charset="-122"/>
                <a:cs typeface="Arial" pitchFamily="34" charset="-120"/>
              </a:rPr>
              <a:t>[3] Namecheap — Link a domain to </a:t>
            </a:r>
            <a:r>
              <a:rPr lang="en-US" sz="600" b="1" dirty="0">
                <a:solidFill>
                  <a:srgbClr val="61757F"/>
                </a:solidFill>
                <a:latin typeface="Arial" pitchFamily="34" charset="0"/>
                <a:ea typeface="Arial" pitchFamily="34" charset="-122"/>
                <a:cs typeface="Arial" pitchFamily="34" charset="-120"/>
              </a:rPr>
              <a:t>GitHub Pages</a:t>
            </a:r>
            <a:r>
              <a:rPr lang="en-US" sz="600" b="1" dirty="0">
                <a:solidFill>
                  <a:srgbClr val="61757F"/>
                </a:solidFill>
                <a:latin typeface="Arial" pitchFamily="34" charset="0"/>
                <a:ea typeface="Arial" pitchFamily="34" charset="-122"/>
                <a:cs typeface="Arial" pitchFamily="34" charset="-120"/>
              </a:rPr>
              <a:t>
</a:t>
            </a:r>
            <a:r>
              <a:rPr lang="en-US" sz="600" b="1" dirty="0">
                <a:solidFill>
                  <a:srgbClr val="61757F"/>
                </a:solidFill>
                <a:latin typeface="Arial" pitchFamily="34" charset="0"/>
                <a:ea typeface="Arial" pitchFamily="34" charset="-122"/>
                <a:cs typeface="Arial" pitchFamily="34" charset="-120"/>
              </a:rPr>
              <a:t>[4] GitHub Docs — HTTPS</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42925" y="400050"/>
            <a:ext cx="414338" cy="414338"/>
          </a:xfrm>
          <a:prstGeom prst="ellipse">
            <a:avLst/>
          </a:prstGeom>
          <a:solidFill>
            <a:srgbClr val="F77F00"/>
          </a:solidFill>
          <a:ln/>
        </p:spPr>
      </p:sp>
      <p:sp>
        <p:nvSpPr>
          <p:cNvPr id="5" name="Text 1"/>
          <p:cNvSpPr/>
          <p:nvPr/>
        </p:nvSpPr>
        <p:spPr>
          <a:xfrm>
            <a:off x="542925" y="400050"/>
            <a:ext cx="414338" cy="414338"/>
          </a:xfrm>
          <a:prstGeom prst="rect">
            <a:avLst/>
          </a:prstGeom>
          <a:noFill/>
          <a:ln/>
        </p:spPr>
        <p:txBody>
          <a:bodyPr wrap="none" lIns="0" tIns="0" rIns="0" bIns="0" rtlCol="0" anchor="ctr">
            <a:spAutoFit/>
          </a:bodyPr>
          <a:lstStyle/>
          <a:p>
            <a:pPr algn="ctr" indent="0" marL="0">
              <a:buNone/>
            </a:pPr>
            <a:r>
              <a:rPr lang="en-US" sz="1200" b="1" dirty="0">
                <a:solidFill>
                  <a:srgbClr val="003049"/>
                </a:solidFill>
                <a:latin typeface="Arial" pitchFamily="34" charset="0"/>
                <a:ea typeface="Arial" pitchFamily="34" charset="-122"/>
                <a:cs typeface="Arial" pitchFamily="34" charset="-120"/>
              </a:rPr>
              <a:t>08</a:t>
            </a:r>
            <a:endParaRPr lang="en-US" sz="1200" dirty="0"/>
          </a:p>
        </p:txBody>
      </p:sp>
      <p:sp>
        <p:nvSpPr>
          <p:cNvPr id="6" name="Text 2"/>
          <p:cNvSpPr/>
          <p:nvPr/>
        </p:nvSpPr>
        <p:spPr>
          <a:xfrm>
            <a:off x="1128713" y="435769"/>
            <a:ext cx="2530785" cy="342900"/>
          </a:xfrm>
          <a:prstGeom prst="rect">
            <a:avLst/>
          </a:prstGeom>
          <a:noFill/>
          <a:ln/>
        </p:spPr>
        <p:txBody>
          <a:bodyPr wrap="none" lIns="0" tIns="0" rIns="0" bIns="0" rtlCol="0" anchor="t">
            <a:spAutoFit/>
          </a:bodyPr>
          <a:lstStyle/>
          <a:p>
            <a:pPr algn="l" indent="0" marL="0">
              <a:lnSpc>
                <a:spcPct val="80000"/>
              </a:lnSpc>
              <a:buNone/>
            </a:pPr>
            <a:r>
              <a:rPr lang="en-US" sz="2450" b="1" spc="-2" kern="0" dirty="0">
                <a:solidFill>
                  <a:srgbClr val="003049"/>
                </a:solidFill>
                <a:latin typeface="Arial" pitchFamily="34" charset="0"/>
                <a:ea typeface="Arial" pitchFamily="34" charset="-122"/>
                <a:cs typeface="Arial" pitchFamily="34" charset="-120"/>
              </a:rPr>
              <a:t>Launch checklist</a:t>
            </a:r>
            <a:endParaRPr lang="en-US" sz="2450" dirty="0"/>
          </a:p>
        </p:txBody>
      </p:sp>
      <p:sp>
        <p:nvSpPr>
          <p:cNvPr id="7" name="Text 3"/>
          <p:cNvSpPr/>
          <p:nvPr/>
        </p:nvSpPr>
        <p:spPr>
          <a:xfrm>
            <a:off x="1128713" y="921544"/>
            <a:ext cx="5143500" cy="385763"/>
          </a:xfrm>
          <a:prstGeom prst="rect">
            <a:avLst/>
          </a:prstGeom>
          <a:noFill/>
          <a:ln/>
        </p:spPr>
        <p:txBody>
          <a:bodyPr wrap="square" lIns="0" tIns="0" rIns="0" bIns="0" rtlCol="0" anchor="t">
            <a:spAutoFit/>
          </a:bodyPr>
          <a:lstStyle/>
          <a:p>
            <a:pPr algn="l" indent="0" marL="0">
              <a:lnSpc>
                <a:spcPct val="108000"/>
              </a:lnSpc>
              <a:buNone/>
            </a:pPr>
            <a:r>
              <a:rPr lang="en-US" sz="1050" dirty="0">
                <a:solidFill>
                  <a:srgbClr val="42515A"/>
                </a:solidFill>
                <a:latin typeface="Arial" pitchFamily="34" charset="0"/>
                <a:ea typeface="Arial" pitchFamily="34" charset="-122"/>
                <a:cs typeface="Arial" pitchFamily="34" charset="-120"/>
              </a:rPr>
              <a:t>Run these five checks after DNS propagation and the latest GitHub Actions deployment—before announcing the new domain.</a:t>
            </a:r>
            <a:endParaRPr lang="en-US" sz="1050" dirty="0"/>
          </a:p>
        </p:txBody>
      </p:sp>
      <p:sp>
        <p:nvSpPr>
          <p:cNvPr id="8" name="Shape 4"/>
          <p:cNvSpPr/>
          <p:nvPr/>
        </p:nvSpPr>
        <p:spPr>
          <a:xfrm>
            <a:off x="1128713" y="1839516"/>
            <a:ext cx="285750" cy="285750"/>
          </a:xfrm>
          <a:prstGeom prst="ellipse">
            <a:avLst/>
          </a:prstGeom>
          <a:solidFill>
            <a:srgbClr val="003049"/>
          </a:solidFill>
          <a:ln/>
        </p:spPr>
      </p:sp>
      <p:sp>
        <p:nvSpPr>
          <p:cNvPr id="9" name="Text 5"/>
          <p:cNvSpPr/>
          <p:nvPr/>
        </p:nvSpPr>
        <p:spPr>
          <a:xfrm>
            <a:off x="1128713" y="1839516"/>
            <a:ext cx="285750" cy="285750"/>
          </a:xfrm>
          <a:prstGeom prst="rect">
            <a:avLst/>
          </a:prstGeom>
          <a:noFill/>
          <a:ln/>
        </p:spPr>
        <p:txBody>
          <a:bodyPr wrap="none" lIns="0" tIns="0" rIns="0" bIns="0" rtlCol="0" anchor="ctr">
            <a:spAutoFit/>
          </a:bodyPr>
          <a:lstStyle/>
          <a:p>
            <a:pPr algn="ctr" indent="0" marL="0">
              <a:buNone/>
            </a:pPr>
            <a:r>
              <a:rPr lang="en-US" sz="800" b="1" dirty="0">
                <a:solidFill>
                  <a:srgbClr val="F7F3ED"/>
                </a:solidFill>
                <a:latin typeface="Arial" pitchFamily="34" charset="0"/>
                <a:ea typeface="Arial" pitchFamily="34" charset="-122"/>
                <a:cs typeface="Arial" pitchFamily="34" charset="-120"/>
              </a:rPr>
              <a:t>01</a:t>
            </a:r>
            <a:endParaRPr lang="en-US" sz="800" dirty="0"/>
          </a:p>
        </p:txBody>
      </p:sp>
      <p:sp>
        <p:nvSpPr>
          <p:cNvPr id="10" name="Text 6"/>
          <p:cNvSpPr/>
          <p:nvPr/>
        </p:nvSpPr>
        <p:spPr>
          <a:xfrm>
            <a:off x="1600200" y="1819145"/>
            <a:ext cx="4579144" cy="160734"/>
          </a:xfrm>
          <a:prstGeom prst="rect">
            <a:avLst/>
          </a:prstGeom>
          <a:noFill/>
          <a:ln/>
        </p:spPr>
        <p:txBody>
          <a:bodyPr wrap="square" lIns="0" tIns="0" rIns="0" bIns="0" rtlCol="0" anchor="t">
            <a:spAutoFit/>
          </a:bodyPr>
          <a:lstStyle/>
          <a:p>
            <a:pPr algn="l" indent="0" marL="0">
              <a:buNone/>
            </a:pPr>
            <a:r>
              <a:rPr lang="en-US" sz="1000" b="1" dirty="0">
                <a:solidFill>
                  <a:srgbClr val="003049"/>
                </a:solidFill>
                <a:latin typeface="Arial" pitchFamily="34" charset="0"/>
                <a:ea typeface="Arial" pitchFamily="34" charset="-122"/>
                <a:cs typeface="Arial" pitchFamily="34" charset="-120"/>
              </a:rPr>
              <a:t>Primary domain resolves</a:t>
            </a:r>
            <a:endParaRPr lang="en-US" sz="1000" dirty="0"/>
          </a:p>
        </p:txBody>
      </p:sp>
      <p:sp>
        <p:nvSpPr>
          <p:cNvPr id="11" name="Text 7"/>
          <p:cNvSpPr/>
          <p:nvPr/>
        </p:nvSpPr>
        <p:spPr>
          <a:xfrm>
            <a:off x="1600200" y="2008454"/>
            <a:ext cx="4579144" cy="137127"/>
          </a:xfrm>
          <a:prstGeom prst="rect">
            <a:avLst/>
          </a:prstGeom>
          <a:noFill/>
          <a:ln/>
        </p:spPr>
        <p:txBody>
          <a:bodyPr wrap="none" lIns="0" tIns="0" rIns="0" bIns="0" rtlCol="0" anchor="t">
            <a:spAutoFit/>
          </a:bodyPr>
          <a:lstStyle/>
          <a:p>
            <a:pPr algn="l" indent="0" marL="0">
              <a:lnSpc>
                <a:spcPct val="102400"/>
              </a:lnSpc>
              <a:buNone/>
            </a:pPr>
            <a:r>
              <a:rPr lang="en-US" sz="800" dirty="0">
                <a:solidFill>
                  <a:srgbClr val="42515A"/>
                </a:solidFill>
                <a:latin typeface="Arial" pitchFamily="34" charset="0"/>
                <a:ea typeface="Arial" pitchFamily="34" charset="-122"/>
                <a:cs typeface="Arial" pitchFamily="34" charset="-120"/>
              </a:rPr>
              <a:t>`https://stackwright.online` displays the current Neversus experience.</a:t>
            </a:r>
            <a:endParaRPr lang="en-US" sz="800" dirty="0"/>
          </a:p>
        </p:txBody>
      </p:sp>
      <p:sp>
        <p:nvSpPr>
          <p:cNvPr id="12" name="Shape 8"/>
          <p:cNvSpPr/>
          <p:nvPr/>
        </p:nvSpPr>
        <p:spPr>
          <a:xfrm>
            <a:off x="1128713" y="2396728"/>
            <a:ext cx="285750" cy="285750"/>
          </a:xfrm>
          <a:prstGeom prst="ellipse">
            <a:avLst/>
          </a:prstGeom>
          <a:solidFill>
            <a:srgbClr val="003049"/>
          </a:solidFill>
          <a:ln/>
        </p:spPr>
      </p:sp>
      <p:sp>
        <p:nvSpPr>
          <p:cNvPr id="13" name="Text 9"/>
          <p:cNvSpPr/>
          <p:nvPr/>
        </p:nvSpPr>
        <p:spPr>
          <a:xfrm>
            <a:off x="1128713" y="2396728"/>
            <a:ext cx="285750" cy="285750"/>
          </a:xfrm>
          <a:prstGeom prst="rect">
            <a:avLst/>
          </a:prstGeom>
          <a:noFill/>
          <a:ln/>
        </p:spPr>
        <p:txBody>
          <a:bodyPr wrap="none" lIns="0" tIns="0" rIns="0" bIns="0" rtlCol="0" anchor="ctr">
            <a:spAutoFit/>
          </a:bodyPr>
          <a:lstStyle/>
          <a:p>
            <a:pPr algn="ctr" indent="0" marL="0">
              <a:buNone/>
            </a:pPr>
            <a:r>
              <a:rPr lang="en-US" sz="800" b="1" dirty="0">
                <a:solidFill>
                  <a:srgbClr val="F7F3ED"/>
                </a:solidFill>
                <a:latin typeface="Arial" pitchFamily="34" charset="0"/>
                <a:ea typeface="Arial" pitchFamily="34" charset="-122"/>
                <a:cs typeface="Arial" pitchFamily="34" charset="-120"/>
              </a:rPr>
              <a:t>02</a:t>
            </a:r>
            <a:endParaRPr lang="en-US" sz="800" dirty="0"/>
          </a:p>
        </p:txBody>
      </p:sp>
      <p:sp>
        <p:nvSpPr>
          <p:cNvPr id="14" name="Text 10"/>
          <p:cNvSpPr/>
          <p:nvPr/>
        </p:nvSpPr>
        <p:spPr>
          <a:xfrm>
            <a:off x="1600200" y="2376357"/>
            <a:ext cx="4579144" cy="160734"/>
          </a:xfrm>
          <a:prstGeom prst="rect">
            <a:avLst/>
          </a:prstGeom>
          <a:noFill/>
          <a:ln/>
        </p:spPr>
        <p:txBody>
          <a:bodyPr wrap="square" lIns="0" tIns="0" rIns="0" bIns="0" rtlCol="0" anchor="t">
            <a:spAutoFit/>
          </a:bodyPr>
          <a:lstStyle/>
          <a:p>
            <a:pPr algn="l" indent="0" marL="0">
              <a:buNone/>
            </a:pPr>
            <a:r>
              <a:rPr lang="en-US" sz="1000" b="1" dirty="0">
                <a:solidFill>
                  <a:srgbClr val="003049"/>
                </a:solidFill>
                <a:latin typeface="Arial" pitchFamily="34" charset="0"/>
                <a:ea typeface="Arial" pitchFamily="34" charset="-122"/>
                <a:cs typeface="Arial" pitchFamily="34" charset="-120"/>
              </a:rPr>
              <a:t>www follows the primary address</a:t>
            </a:r>
            <a:endParaRPr lang="en-US" sz="1000" dirty="0"/>
          </a:p>
        </p:txBody>
      </p:sp>
      <p:sp>
        <p:nvSpPr>
          <p:cNvPr id="15" name="Text 11"/>
          <p:cNvSpPr/>
          <p:nvPr/>
        </p:nvSpPr>
        <p:spPr>
          <a:xfrm>
            <a:off x="1600200" y="2565667"/>
            <a:ext cx="4579144" cy="137127"/>
          </a:xfrm>
          <a:prstGeom prst="rect">
            <a:avLst/>
          </a:prstGeom>
          <a:noFill/>
          <a:ln/>
        </p:spPr>
        <p:txBody>
          <a:bodyPr wrap="none" lIns="0" tIns="0" rIns="0" bIns="0" rtlCol="0" anchor="t">
            <a:spAutoFit/>
          </a:bodyPr>
          <a:lstStyle/>
          <a:p>
            <a:pPr algn="l" indent="0" marL="0">
              <a:lnSpc>
                <a:spcPct val="102400"/>
              </a:lnSpc>
              <a:buNone/>
            </a:pPr>
            <a:r>
              <a:rPr lang="en-US" sz="800" dirty="0">
                <a:solidFill>
                  <a:srgbClr val="42515A"/>
                </a:solidFill>
                <a:latin typeface="Arial" pitchFamily="34" charset="0"/>
                <a:ea typeface="Arial" pitchFamily="34" charset="-122"/>
                <a:cs typeface="Arial" pitchFamily="34" charset="-120"/>
              </a:rPr>
              <a:t>`https://www.stackwright.online` routes to the selected GitHub Pages custom domain.</a:t>
            </a:r>
            <a:endParaRPr lang="en-US" sz="800" dirty="0"/>
          </a:p>
        </p:txBody>
      </p:sp>
      <p:sp>
        <p:nvSpPr>
          <p:cNvPr id="16" name="Shape 12"/>
          <p:cNvSpPr/>
          <p:nvPr/>
        </p:nvSpPr>
        <p:spPr>
          <a:xfrm>
            <a:off x="1128713" y="2953941"/>
            <a:ext cx="285750" cy="285750"/>
          </a:xfrm>
          <a:prstGeom prst="ellipse">
            <a:avLst/>
          </a:prstGeom>
          <a:solidFill>
            <a:srgbClr val="003049"/>
          </a:solidFill>
          <a:ln/>
        </p:spPr>
      </p:sp>
      <p:sp>
        <p:nvSpPr>
          <p:cNvPr id="17" name="Text 13"/>
          <p:cNvSpPr/>
          <p:nvPr/>
        </p:nvSpPr>
        <p:spPr>
          <a:xfrm>
            <a:off x="1128713" y="2953941"/>
            <a:ext cx="285750" cy="285750"/>
          </a:xfrm>
          <a:prstGeom prst="rect">
            <a:avLst/>
          </a:prstGeom>
          <a:noFill/>
          <a:ln/>
        </p:spPr>
        <p:txBody>
          <a:bodyPr wrap="none" lIns="0" tIns="0" rIns="0" bIns="0" rtlCol="0" anchor="ctr">
            <a:spAutoFit/>
          </a:bodyPr>
          <a:lstStyle/>
          <a:p>
            <a:pPr algn="ctr" indent="0" marL="0">
              <a:buNone/>
            </a:pPr>
            <a:r>
              <a:rPr lang="en-US" sz="800" b="1" dirty="0">
                <a:solidFill>
                  <a:srgbClr val="F7F3ED"/>
                </a:solidFill>
                <a:latin typeface="Arial" pitchFamily="34" charset="0"/>
                <a:ea typeface="Arial" pitchFamily="34" charset="-122"/>
                <a:cs typeface="Arial" pitchFamily="34" charset="-120"/>
              </a:rPr>
              <a:t>03</a:t>
            </a:r>
            <a:endParaRPr lang="en-US" sz="800" dirty="0"/>
          </a:p>
        </p:txBody>
      </p:sp>
      <p:sp>
        <p:nvSpPr>
          <p:cNvPr id="18" name="Text 14"/>
          <p:cNvSpPr/>
          <p:nvPr/>
        </p:nvSpPr>
        <p:spPr>
          <a:xfrm>
            <a:off x="1600200" y="2933570"/>
            <a:ext cx="4579144" cy="160734"/>
          </a:xfrm>
          <a:prstGeom prst="rect">
            <a:avLst/>
          </a:prstGeom>
          <a:noFill/>
          <a:ln/>
        </p:spPr>
        <p:txBody>
          <a:bodyPr wrap="square" lIns="0" tIns="0" rIns="0" bIns="0" rtlCol="0" anchor="t">
            <a:spAutoFit/>
          </a:bodyPr>
          <a:lstStyle/>
          <a:p>
            <a:pPr algn="l" indent="0" marL="0">
              <a:buNone/>
            </a:pPr>
            <a:r>
              <a:rPr lang="en-US" sz="1000" b="1" dirty="0">
                <a:solidFill>
                  <a:srgbClr val="003049"/>
                </a:solidFill>
                <a:latin typeface="Arial" pitchFamily="34" charset="0"/>
                <a:ea typeface="Arial" pitchFamily="34" charset="-122"/>
                <a:cs typeface="Arial" pitchFamily="34" charset="-120"/>
              </a:rPr>
              <a:t>HTTPS is enforced</a:t>
            </a:r>
            <a:endParaRPr lang="en-US" sz="1000" dirty="0"/>
          </a:p>
        </p:txBody>
      </p:sp>
      <p:sp>
        <p:nvSpPr>
          <p:cNvPr id="19" name="Text 15"/>
          <p:cNvSpPr/>
          <p:nvPr/>
        </p:nvSpPr>
        <p:spPr>
          <a:xfrm>
            <a:off x="1600200" y="3122879"/>
            <a:ext cx="4579144" cy="137127"/>
          </a:xfrm>
          <a:prstGeom prst="rect">
            <a:avLst/>
          </a:prstGeom>
          <a:noFill/>
          <a:ln/>
        </p:spPr>
        <p:txBody>
          <a:bodyPr wrap="none" lIns="0" tIns="0" rIns="0" bIns="0" rtlCol="0" anchor="t">
            <a:spAutoFit/>
          </a:bodyPr>
          <a:lstStyle/>
          <a:p>
            <a:pPr algn="l" indent="0" marL="0">
              <a:lnSpc>
                <a:spcPct val="102400"/>
              </a:lnSpc>
              <a:buNone/>
            </a:pPr>
            <a:r>
              <a:rPr lang="en-US" sz="800" dirty="0">
                <a:solidFill>
                  <a:srgbClr val="42515A"/>
                </a:solidFill>
                <a:latin typeface="Arial" pitchFamily="34" charset="0"/>
                <a:ea typeface="Arial" pitchFamily="34" charset="-122"/>
                <a:cs typeface="Arial" pitchFamily="34" charset="-120"/>
              </a:rPr>
              <a:t>The browser shows a valid lock icon and HTTP requests redirect to HTTPS.</a:t>
            </a:r>
            <a:endParaRPr lang="en-US" sz="800" dirty="0"/>
          </a:p>
        </p:txBody>
      </p:sp>
      <p:sp>
        <p:nvSpPr>
          <p:cNvPr id="20" name="Shape 16"/>
          <p:cNvSpPr/>
          <p:nvPr/>
        </p:nvSpPr>
        <p:spPr>
          <a:xfrm>
            <a:off x="1128713" y="3511153"/>
            <a:ext cx="285750" cy="285750"/>
          </a:xfrm>
          <a:prstGeom prst="ellipse">
            <a:avLst/>
          </a:prstGeom>
          <a:solidFill>
            <a:srgbClr val="003049"/>
          </a:solidFill>
          <a:ln/>
        </p:spPr>
      </p:sp>
      <p:sp>
        <p:nvSpPr>
          <p:cNvPr id="21" name="Text 17"/>
          <p:cNvSpPr/>
          <p:nvPr/>
        </p:nvSpPr>
        <p:spPr>
          <a:xfrm>
            <a:off x="1128713" y="3511153"/>
            <a:ext cx="285750" cy="285750"/>
          </a:xfrm>
          <a:prstGeom prst="rect">
            <a:avLst/>
          </a:prstGeom>
          <a:noFill/>
          <a:ln/>
        </p:spPr>
        <p:txBody>
          <a:bodyPr wrap="none" lIns="0" tIns="0" rIns="0" bIns="0" rtlCol="0" anchor="ctr">
            <a:spAutoFit/>
          </a:bodyPr>
          <a:lstStyle/>
          <a:p>
            <a:pPr algn="ctr" indent="0" marL="0">
              <a:buNone/>
            </a:pPr>
            <a:r>
              <a:rPr lang="en-US" sz="800" b="1" dirty="0">
                <a:solidFill>
                  <a:srgbClr val="F7F3ED"/>
                </a:solidFill>
                <a:latin typeface="Arial" pitchFamily="34" charset="0"/>
                <a:ea typeface="Arial" pitchFamily="34" charset="-122"/>
                <a:cs typeface="Arial" pitchFamily="34" charset="-120"/>
              </a:rPr>
              <a:t>04</a:t>
            </a:r>
            <a:endParaRPr lang="en-US" sz="800" dirty="0"/>
          </a:p>
        </p:txBody>
      </p:sp>
      <p:sp>
        <p:nvSpPr>
          <p:cNvPr id="22" name="Text 18"/>
          <p:cNvSpPr/>
          <p:nvPr/>
        </p:nvSpPr>
        <p:spPr>
          <a:xfrm>
            <a:off x="1600200" y="3490782"/>
            <a:ext cx="4579144" cy="160734"/>
          </a:xfrm>
          <a:prstGeom prst="rect">
            <a:avLst/>
          </a:prstGeom>
          <a:noFill/>
          <a:ln/>
        </p:spPr>
        <p:txBody>
          <a:bodyPr wrap="square" lIns="0" tIns="0" rIns="0" bIns="0" rtlCol="0" anchor="t">
            <a:spAutoFit/>
          </a:bodyPr>
          <a:lstStyle/>
          <a:p>
            <a:pPr algn="l" indent="0" marL="0">
              <a:buNone/>
            </a:pPr>
            <a:r>
              <a:rPr lang="en-US" sz="1000" b="1" dirty="0">
                <a:solidFill>
                  <a:srgbClr val="003049"/>
                </a:solidFill>
                <a:latin typeface="Arial" pitchFamily="34" charset="0"/>
                <a:ea typeface="Arial" pitchFamily="34" charset="-122"/>
                <a:cs typeface="Arial" pitchFamily="34" charset="-120"/>
              </a:rPr>
              <a:t>All assets load cleanly</a:t>
            </a:r>
            <a:endParaRPr lang="en-US" sz="1000" dirty="0"/>
          </a:p>
        </p:txBody>
      </p:sp>
      <p:sp>
        <p:nvSpPr>
          <p:cNvPr id="23" name="Text 19"/>
          <p:cNvSpPr/>
          <p:nvPr/>
        </p:nvSpPr>
        <p:spPr>
          <a:xfrm>
            <a:off x="1600200" y="3680092"/>
            <a:ext cx="4579144" cy="137127"/>
          </a:xfrm>
          <a:prstGeom prst="rect">
            <a:avLst/>
          </a:prstGeom>
          <a:noFill/>
          <a:ln/>
        </p:spPr>
        <p:txBody>
          <a:bodyPr wrap="none" lIns="0" tIns="0" rIns="0" bIns="0" rtlCol="0" anchor="t">
            <a:spAutoFit/>
          </a:bodyPr>
          <a:lstStyle/>
          <a:p>
            <a:pPr algn="l" indent="0" marL="0">
              <a:lnSpc>
                <a:spcPct val="102400"/>
              </a:lnSpc>
              <a:buNone/>
            </a:pPr>
            <a:r>
              <a:rPr lang="en-US" sz="800" dirty="0">
                <a:solidFill>
                  <a:srgbClr val="42515A"/>
                </a:solidFill>
                <a:latin typeface="Arial" pitchFamily="34" charset="0"/>
                <a:ea typeface="Arial" pitchFamily="34" charset="-122"/>
                <a:cs typeface="Arial" pitchFamily="34" charset="-120"/>
              </a:rPr>
              <a:t>Confirm there are no missing styles, images, JavaScript files, or mixed-content warnings.</a:t>
            </a:r>
            <a:endParaRPr lang="en-US" sz="800" dirty="0"/>
          </a:p>
        </p:txBody>
      </p:sp>
      <p:sp>
        <p:nvSpPr>
          <p:cNvPr id="24" name="Shape 20"/>
          <p:cNvSpPr/>
          <p:nvPr/>
        </p:nvSpPr>
        <p:spPr>
          <a:xfrm>
            <a:off x="1128713" y="4068366"/>
            <a:ext cx="285750" cy="285750"/>
          </a:xfrm>
          <a:prstGeom prst="ellipse">
            <a:avLst/>
          </a:prstGeom>
          <a:solidFill>
            <a:srgbClr val="003049"/>
          </a:solidFill>
          <a:ln/>
        </p:spPr>
      </p:sp>
      <p:sp>
        <p:nvSpPr>
          <p:cNvPr id="25" name="Text 21"/>
          <p:cNvSpPr/>
          <p:nvPr/>
        </p:nvSpPr>
        <p:spPr>
          <a:xfrm>
            <a:off x="1128713" y="4068366"/>
            <a:ext cx="285750" cy="285750"/>
          </a:xfrm>
          <a:prstGeom prst="rect">
            <a:avLst/>
          </a:prstGeom>
          <a:noFill/>
          <a:ln/>
        </p:spPr>
        <p:txBody>
          <a:bodyPr wrap="none" lIns="0" tIns="0" rIns="0" bIns="0" rtlCol="0" anchor="ctr">
            <a:spAutoFit/>
          </a:bodyPr>
          <a:lstStyle/>
          <a:p>
            <a:pPr algn="ctr" indent="0" marL="0">
              <a:buNone/>
            </a:pPr>
            <a:r>
              <a:rPr lang="en-US" sz="800" b="1" dirty="0">
                <a:solidFill>
                  <a:srgbClr val="F7F3ED"/>
                </a:solidFill>
                <a:latin typeface="Arial" pitchFamily="34" charset="0"/>
                <a:ea typeface="Arial" pitchFamily="34" charset="-122"/>
                <a:cs typeface="Arial" pitchFamily="34" charset="-120"/>
              </a:rPr>
              <a:t>05</a:t>
            </a:r>
            <a:endParaRPr lang="en-US" sz="800" dirty="0"/>
          </a:p>
        </p:txBody>
      </p:sp>
      <p:sp>
        <p:nvSpPr>
          <p:cNvPr id="26" name="Text 22"/>
          <p:cNvSpPr/>
          <p:nvPr/>
        </p:nvSpPr>
        <p:spPr>
          <a:xfrm>
            <a:off x="1600200" y="4047995"/>
            <a:ext cx="4579144" cy="160734"/>
          </a:xfrm>
          <a:prstGeom prst="rect">
            <a:avLst/>
          </a:prstGeom>
          <a:noFill/>
          <a:ln/>
        </p:spPr>
        <p:txBody>
          <a:bodyPr wrap="square" lIns="0" tIns="0" rIns="0" bIns="0" rtlCol="0" anchor="t">
            <a:spAutoFit/>
          </a:bodyPr>
          <a:lstStyle/>
          <a:p>
            <a:pPr algn="l" indent="0" marL="0">
              <a:buNone/>
            </a:pPr>
            <a:r>
              <a:rPr lang="en-US" sz="1000" b="1" dirty="0">
                <a:solidFill>
                  <a:srgbClr val="003049"/>
                </a:solidFill>
                <a:latin typeface="Arial" pitchFamily="34" charset="0"/>
                <a:ea typeface="Arial" pitchFamily="34" charset="-122"/>
                <a:cs typeface="Arial" pitchFamily="34" charset="-120"/>
              </a:rPr>
              <a:t>Latest deployment is green</a:t>
            </a:r>
            <a:endParaRPr lang="en-US" sz="1000" dirty="0"/>
          </a:p>
        </p:txBody>
      </p:sp>
      <p:sp>
        <p:nvSpPr>
          <p:cNvPr id="27" name="Text 23"/>
          <p:cNvSpPr/>
          <p:nvPr/>
        </p:nvSpPr>
        <p:spPr>
          <a:xfrm>
            <a:off x="1600200" y="4237304"/>
            <a:ext cx="4579144" cy="137127"/>
          </a:xfrm>
          <a:prstGeom prst="rect">
            <a:avLst/>
          </a:prstGeom>
          <a:noFill/>
          <a:ln/>
        </p:spPr>
        <p:txBody>
          <a:bodyPr wrap="none" lIns="0" tIns="0" rIns="0" bIns="0" rtlCol="0" anchor="t">
            <a:spAutoFit/>
          </a:bodyPr>
          <a:lstStyle/>
          <a:p>
            <a:pPr algn="l" indent="0" marL="0">
              <a:lnSpc>
                <a:spcPct val="102400"/>
              </a:lnSpc>
              <a:buNone/>
            </a:pPr>
            <a:r>
              <a:rPr lang="en-US" sz="800" dirty="0">
                <a:solidFill>
                  <a:srgbClr val="42515A"/>
                </a:solidFill>
                <a:latin typeface="Arial" pitchFamily="34" charset="0"/>
                <a:ea typeface="Arial" pitchFamily="34" charset="-122"/>
                <a:cs typeface="Arial" pitchFamily="34" charset="-120"/>
              </a:rPr>
              <a:t>The repository’s Actions tab shows a successful GitHub Pages run for the latest commit.</a:t>
            </a:r>
            <a:endParaRPr lang="en-US" sz="800" dirty="0"/>
          </a:p>
        </p:txBody>
      </p:sp>
      <p:sp>
        <p:nvSpPr>
          <p:cNvPr id="28" name="Shape 24"/>
          <p:cNvSpPr/>
          <p:nvPr/>
        </p:nvSpPr>
        <p:spPr>
          <a:xfrm>
            <a:off x="6707981" y="1693069"/>
            <a:ext cx="1893094" cy="2800350"/>
          </a:xfrm>
          <a:prstGeom prst="rect">
            <a:avLst/>
          </a:prstGeom>
          <a:solidFill>
            <a:srgbClr val="003049"/>
          </a:solidFill>
          <a:ln/>
        </p:spPr>
      </p:sp>
      <p:sp>
        <p:nvSpPr>
          <p:cNvPr id="29" name="Shape 25"/>
          <p:cNvSpPr/>
          <p:nvPr/>
        </p:nvSpPr>
        <p:spPr>
          <a:xfrm>
            <a:off x="6908006" y="1950244"/>
            <a:ext cx="542925" cy="542925"/>
          </a:xfrm>
          <a:prstGeom prst="ellipse">
            <a:avLst/>
          </a:prstGeom>
          <a:solidFill>
            <a:srgbClr val="F77F00"/>
          </a:solidFill>
          <a:ln/>
        </p:spPr>
      </p:sp>
      <p:sp>
        <p:nvSpPr>
          <p:cNvPr id="30" name="Text 26"/>
          <p:cNvSpPr/>
          <p:nvPr/>
        </p:nvSpPr>
        <p:spPr>
          <a:xfrm>
            <a:off x="6908006" y="1950244"/>
            <a:ext cx="542925" cy="542925"/>
          </a:xfrm>
          <a:prstGeom prst="rect">
            <a:avLst/>
          </a:prstGeom>
          <a:noFill/>
          <a:ln/>
        </p:spPr>
        <p:txBody>
          <a:bodyPr wrap="none" lIns="0" tIns="0" rIns="0" bIns="0" rtlCol="0" anchor="ctr">
            <a:spAutoFit/>
          </a:bodyPr>
          <a:lstStyle/>
          <a:p>
            <a:pPr algn="ctr" indent="0" marL="0">
              <a:buNone/>
            </a:pPr>
            <a:r>
              <a:rPr lang="en-US" sz="1300" b="1" dirty="0">
                <a:solidFill>
                  <a:srgbClr val="003049"/>
                </a:solidFill>
                <a:latin typeface="Arial" pitchFamily="34" charset="0"/>
                <a:ea typeface="Arial" pitchFamily="34" charset="-122"/>
                <a:cs typeface="Arial" pitchFamily="34" charset="-120"/>
              </a:rPr>
              <a:t>✓</a:t>
            </a:r>
            <a:endParaRPr lang="en-US" sz="1300" dirty="0"/>
          </a:p>
        </p:txBody>
      </p:sp>
      <p:sp>
        <p:nvSpPr>
          <p:cNvPr id="31" name="Text 27"/>
          <p:cNvSpPr/>
          <p:nvPr/>
        </p:nvSpPr>
        <p:spPr>
          <a:xfrm>
            <a:off x="6908006" y="2693194"/>
            <a:ext cx="866682" cy="433983"/>
          </a:xfrm>
          <a:prstGeom prst="rect">
            <a:avLst/>
          </a:prstGeom>
          <a:noFill/>
          <a:ln/>
        </p:spPr>
        <p:txBody>
          <a:bodyPr wrap="square" lIns="0" tIns="0" rIns="0" bIns="0" rtlCol="0" anchor="t">
            <a:spAutoFit/>
          </a:bodyPr>
          <a:lstStyle/>
          <a:p>
            <a:pPr algn="l" indent="0" marL="0">
              <a:lnSpc>
                <a:spcPct val="78400"/>
              </a:lnSpc>
              <a:buNone/>
            </a:pPr>
            <a:r>
              <a:rPr lang="en-US" sz="1550" b="1" spc="-1" kern="0" dirty="0">
                <a:solidFill>
                  <a:srgbClr val="F7F3ED"/>
                </a:solidFill>
                <a:latin typeface="Arial" pitchFamily="34" charset="0"/>
                <a:ea typeface="Arial" pitchFamily="34" charset="-122"/>
                <a:cs typeface="Arial" pitchFamily="34" charset="-120"/>
              </a:rPr>
              <a:t>Ready to</a:t>
            </a:r>
            <a:r>
              <a:rPr lang="en-US" sz="1550" b="1" spc="-1" kern="0" dirty="0">
                <a:solidFill>
                  <a:srgbClr val="F7F3ED"/>
                </a:solidFill>
                <a:latin typeface="Arial" pitchFamily="34" charset="0"/>
                <a:ea typeface="Arial" pitchFamily="34" charset="-122"/>
                <a:cs typeface="Arial" pitchFamily="34" charset="-120"/>
              </a:rPr>
              <a:t>
</a:t>
            </a:r>
            <a:r>
              <a:rPr lang="en-US" sz="1550" b="1" spc="-1" kern="0" dirty="0">
                <a:solidFill>
                  <a:srgbClr val="F7F3ED"/>
                </a:solidFill>
                <a:latin typeface="Arial" pitchFamily="34" charset="0"/>
                <a:ea typeface="Arial" pitchFamily="34" charset="-122"/>
                <a:cs typeface="Arial" pitchFamily="34" charset="-120"/>
              </a:rPr>
              <a:t>go live</a:t>
            </a:r>
            <a:endParaRPr lang="en-US" sz="1550" dirty="0"/>
          </a:p>
        </p:txBody>
      </p:sp>
      <p:sp>
        <p:nvSpPr>
          <p:cNvPr id="32" name="Text 28"/>
          <p:cNvSpPr/>
          <p:nvPr/>
        </p:nvSpPr>
        <p:spPr>
          <a:xfrm>
            <a:off x="6908006" y="3262908"/>
            <a:ext cx="1493044" cy="486891"/>
          </a:xfrm>
          <a:prstGeom prst="rect">
            <a:avLst/>
          </a:prstGeom>
          <a:noFill/>
          <a:ln/>
        </p:spPr>
        <p:txBody>
          <a:bodyPr wrap="square" lIns="0" tIns="0" rIns="0" bIns="0" rtlCol="0" anchor="t">
            <a:spAutoFit/>
          </a:bodyPr>
          <a:lstStyle/>
          <a:p>
            <a:pPr algn="l" indent="0" marL="0">
              <a:lnSpc>
                <a:spcPct val="113600"/>
              </a:lnSpc>
              <a:buNone/>
            </a:pPr>
            <a:r>
              <a:rPr lang="en-US" sz="850" dirty="0">
                <a:solidFill>
                  <a:srgbClr val="C7D8E0"/>
                </a:solidFill>
                <a:latin typeface="Arial" pitchFamily="34" charset="0"/>
                <a:ea typeface="Arial" pitchFamily="34" charset="-122"/>
                <a:cs typeface="Arial" pitchFamily="34" charset="-120"/>
              </a:rPr>
              <a:t>When all five gates pass, </a:t>
            </a:r>
            <a:r>
              <a:rPr lang="en-US" sz="850" dirty="0">
                <a:solidFill>
                  <a:srgbClr val="C7D8E0"/>
                </a:solidFill>
                <a:latin typeface="Arial" pitchFamily="34" charset="0"/>
                <a:ea typeface="Arial" pitchFamily="34" charset="-122"/>
                <a:cs typeface="Arial" pitchFamily="34" charset="-120"/>
              </a:rPr>
              <a:t>share </a:t>
            </a:r>
            <a:r>
              <a:rPr lang="en-US" sz="800" b="1" dirty="0">
                <a:solidFill>
                  <a:srgbClr val="F77F00"/>
                </a:solidFill>
                <a:latin typeface="Arial" pitchFamily="34" charset="0"/>
                <a:ea typeface="Arial" pitchFamily="34" charset="-122"/>
                <a:cs typeface="Arial" pitchFamily="34" charset="-120"/>
              </a:rPr>
              <a:t>stackwright.online</a:t>
            </a:r>
            <a:r>
              <a:rPr lang="en-US" sz="850" dirty="0">
                <a:solidFill>
                  <a:srgbClr val="C7D8E0"/>
                </a:solidFill>
                <a:latin typeface="Arial" pitchFamily="34" charset="0"/>
                <a:ea typeface="Arial" pitchFamily="34" charset="-122"/>
                <a:cs typeface="Arial" pitchFamily="34" charset="-120"/>
              </a:rPr>
              <a:t> as </a:t>
            </a:r>
            <a:r>
              <a:rPr lang="en-US" sz="850" dirty="0">
                <a:solidFill>
                  <a:srgbClr val="C7D8E0"/>
                </a:solidFill>
                <a:latin typeface="Arial" pitchFamily="34" charset="0"/>
                <a:ea typeface="Arial" pitchFamily="34" charset="-122"/>
                <a:cs typeface="Arial" pitchFamily="34" charset="-120"/>
              </a:rPr>
              <a:t>the public home of Neversus.</a:t>
            </a:r>
            <a:endParaRPr lang="en-US" sz="850" dirty="0"/>
          </a:p>
        </p:txBody>
      </p:sp>
      <p:sp>
        <p:nvSpPr>
          <p:cNvPr id="33" name="Text 29"/>
          <p:cNvSpPr/>
          <p:nvPr/>
        </p:nvSpPr>
        <p:spPr>
          <a:xfrm>
            <a:off x="1128713" y="4686300"/>
            <a:ext cx="7472363" cy="100013"/>
          </a:xfrm>
          <a:prstGeom prst="rect">
            <a:avLst/>
          </a:prstGeom>
          <a:noFill/>
          <a:ln/>
        </p:spPr>
        <p:txBody>
          <a:bodyPr wrap="square" lIns="0" tIns="0" rIns="0" bIns="0" rtlCol="0" anchor="t">
            <a:spAutoFit/>
          </a:bodyPr>
          <a:lstStyle/>
          <a:p>
            <a:pPr algn="l" indent="0" marL="0">
              <a:buNone/>
            </a:pPr>
            <a:r>
              <a:rPr lang="en-US" sz="600" b="1" dirty="0">
                <a:solidFill>
                  <a:srgbClr val="61757F"/>
                </a:solidFill>
                <a:latin typeface="Arial" pitchFamily="34" charset="0"/>
                <a:ea typeface="Arial" pitchFamily="34" charset="-122"/>
                <a:cs typeface="Arial" pitchFamily="34" charset="-120"/>
              </a:rPr>
              <a:t>Final operational check: test in a private browser window to avoid cached DNS, assets, or redirects masking an issue.</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657225" y="714375"/>
            <a:ext cx="4737702" cy="132159"/>
          </a:xfrm>
          <a:prstGeom prst="rect">
            <a:avLst/>
          </a:prstGeom>
          <a:noFill/>
          <a:ln/>
        </p:spPr>
        <p:txBody>
          <a:bodyPr wrap="square" lIns="0" tIns="0" rIns="0" bIns="0" rtlCol="0" anchor="t">
            <a:spAutoFit/>
          </a:bodyPr>
          <a:lstStyle/>
          <a:p>
            <a:pPr algn="l" indent="0" marL="0">
              <a:buNone/>
            </a:pPr>
            <a:r>
              <a:rPr lang="en-US" sz="800" b="1" spc="2" kern="0" dirty="0">
                <a:solidFill>
                  <a:srgbClr val="F77F00"/>
                </a:solidFill>
                <a:latin typeface="Arial" pitchFamily="34" charset="0"/>
                <a:ea typeface="Arial" pitchFamily="34" charset="-122"/>
                <a:cs typeface="Arial" pitchFamily="34" charset="-120"/>
              </a:rPr>
              <a:t>LAUNCH STATE</a:t>
            </a:r>
            <a:endParaRPr lang="en-US" sz="800" dirty="0"/>
          </a:p>
        </p:txBody>
      </p:sp>
      <p:sp>
        <p:nvSpPr>
          <p:cNvPr id="5" name="Text 1"/>
          <p:cNvSpPr/>
          <p:nvPr/>
        </p:nvSpPr>
        <p:spPr>
          <a:xfrm>
            <a:off x="657225" y="1046559"/>
            <a:ext cx="4429125" cy="1031491"/>
          </a:xfrm>
          <a:prstGeom prst="rect">
            <a:avLst/>
          </a:prstGeom>
          <a:noFill/>
          <a:ln/>
        </p:spPr>
        <p:txBody>
          <a:bodyPr wrap="square" lIns="0" tIns="0" rIns="0" bIns="0" rtlCol="0" anchor="t">
            <a:spAutoFit/>
          </a:bodyPr>
          <a:lstStyle/>
          <a:p>
            <a:pPr algn="l" indent="0" marL="0">
              <a:lnSpc>
                <a:spcPct val="76000"/>
              </a:lnSpc>
              <a:buNone/>
            </a:pPr>
            <a:r>
              <a:rPr lang="en-US" sz="3950" b="1" spc="-3" kern="0" dirty="0">
                <a:solidFill>
                  <a:srgbClr val="F7F3ED"/>
                </a:solidFill>
                <a:latin typeface="Arial" pitchFamily="34" charset="0"/>
                <a:ea typeface="Arial" pitchFamily="34" charset="-122"/>
                <a:cs typeface="Arial" pitchFamily="34" charset="-120"/>
              </a:rPr>
              <a:t>Ready to</a:t>
            </a:r>
            <a:r>
              <a:rPr lang="en-US" sz="3950" b="1" spc="-3" kern="0" dirty="0">
                <a:solidFill>
                  <a:srgbClr val="F7F3ED"/>
                </a:solidFill>
                <a:latin typeface="Arial" pitchFamily="34" charset="0"/>
                <a:ea typeface="Arial" pitchFamily="34" charset="-122"/>
                <a:cs typeface="Arial" pitchFamily="34" charset="-120"/>
              </a:rPr>
              <a:t>
</a:t>
            </a:r>
            <a:r>
              <a:rPr lang="en-US" sz="3950" b="1" spc="-3" kern="0" dirty="0">
                <a:solidFill>
                  <a:srgbClr val="F7F3ED"/>
                </a:solidFill>
                <a:latin typeface="Arial" pitchFamily="34" charset="0"/>
                <a:ea typeface="Arial" pitchFamily="34" charset="-122"/>
                <a:cs typeface="Arial" pitchFamily="34" charset="-120"/>
              </a:rPr>
              <a:t>go public.</a:t>
            </a:r>
            <a:endParaRPr lang="en-US" sz="3950" dirty="0"/>
          </a:p>
        </p:txBody>
      </p:sp>
      <p:sp>
        <p:nvSpPr>
          <p:cNvPr id="6" name="Text 2"/>
          <p:cNvSpPr/>
          <p:nvPr/>
        </p:nvSpPr>
        <p:spPr>
          <a:xfrm>
            <a:off x="657225" y="2320937"/>
            <a:ext cx="4737702" cy="207169"/>
          </a:xfrm>
          <a:prstGeom prst="rect">
            <a:avLst/>
          </a:prstGeom>
          <a:noFill/>
          <a:ln/>
        </p:spPr>
        <p:txBody>
          <a:bodyPr wrap="none" lIns="0" tIns="0" rIns="0" bIns="0" rtlCol="0" anchor="t">
            <a:spAutoFit/>
          </a:bodyPr>
          <a:lstStyle/>
          <a:p>
            <a:pPr algn="l" indent="0" marL="0">
              <a:lnSpc>
                <a:spcPct val="80000"/>
              </a:lnSpc>
              <a:buNone/>
            </a:pPr>
            <a:r>
              <a:rPr lang="en-US" sz="1450" b="1" spc="-1" kern="0" dirty="0">
                <a:solidFill>
                  <a:srgbClr val="F77F00"/>
                </a:solidFill>
                <a:latin typeface="Arial" pitchFamily="34" charset="0"/>
                <a:ea typeface="Arial" pitchFamily="34" charset="-122"/>
                <a:cs typeface="Arial" pitchFamily="34" charset="-120"/>
              </a:rPr>
              <a:t>https://stackwright.online</a:t>
            </a:r>
            <a:endParaRPr lang="en-US" sz="1450" dirty="0"/>
          </a:p>
        </p:txBody>
      </p:sp>
      <p:sp>
        <p:nvSpPr>
          <p:cNvPr id="7" name="Text 3"/>
          <p:cNvSpPr/>
          <p:nvPr/>
        </p:nvSpPr>
        <p:spPr>
          <a:xfrm>
            <a:off x="657225" y="2792425"/>
            <a:ext cx="3571875" cy="425946"/>
          </a:xfrm>
          <a:prstGeom prst="rect">
            <a:avLst/>
          </a:prstGeom>
          <a:noFill/>
          <a:ln/>
        </p:spPr>
        <p:txBody>
          <a:bodyPr wrap="square" lIns="0" tIns="0" rIns="0" bIns="0" rtlCol="0" anchor="t">
            <a:spAutoFit/>
          </a:bodyPr>
          <a:lstStyle/>
          <a:p>
            <a:pPr algn="l" indent="0" marL="0">
              <a:lnSpc>
                <a:spcPct val="113600"/>
              </a:lnSpc>
              <a:buNone/>
            </a:pPr>
            <a:r>
              <a:rPr lang="en-US" sz="1100" dirty="0">
                <a:solidFill>
                  <a:srgbClr val="C7D8E0"/>
                </a:solidFill>
                <a:latin typeface="Arial" pitchFamily="34" charset="0"/>
                <a:ea typeface="Arial" pitchFamily="34" charset="-122"/>
                <a:cs typeface="Arial" pitchFamily="34" charset="-120"/>
              </a:rPr>
              <a:t>Namecheap holds the domain. GitHub Pages deploys the Neversus experience and secures it with HTTPS.</a:t>
            </a:r>
            <a:endParaRPr lang="en-US" sz="1100" dirty="0"/>
          </a:p>
        </p:txBody>
      </p:sp>
      <p:sp>
        <p:nvSpPr>
          <p:cNvPr id="8" name="Text 4"/>
          <p:cNvSpPr/>
          <p:nvPr/>
        </p:nvSpPr>
        <p:spPr>
          <a:xfrm>
            <a:off x="657225" y="3539840"/>
            <a:ext cx="2211660" cy="144661"/>
          </a:xfrm>
          <a:prstGeom prst="rect">
            <a:avLst/>
          </a:prstGeom>
          <a:noFill/>
          <a:ln/>
        </p:spPr>
        <p:txBody>
          <a:bodyPr wrap="none" lIns="0" tIns="0" rIns="0" bIns="0" rtlCol="0" anchor="t">
            <a:spAutoFit/>
          </a:bodyPr>
          <a:lstStyle/>
          <a:p>
            <a:pPr algn="l" indent="0" marL="0">
              <a:lnSpc>
                <a:spcPct val="108000"/>
              </a:lnSpc>
              <a:buNone/>
            </a:pPr>
            <a:r>
              <a:rPr lang="en-US" sz="750" b="1" dirty="0">
                <a:solidFill>
                  <a:srgbClr val="F7F3ED"/>
                </a:solidFill>
                <a:latin typeface="Arial" pitchFamily="34" charset="0"/>
                <a:ea typeface="Arial" pitchFamily="34" charset="-122"/>
                <a:cs typeface="Arial" pitchFamily="34" charset="-120"/>
              </a:rPr>
              <a:t>NAMECHEAP</a:t>
            </a:r>
            <a:endParaRPr lang="en-US" sz="750" dirty="0"/>
          </a:p>
        </p:txBody>
      </p:sp>
      <p:sp>
        <p:nvSpPr>
          <p:cNvPr id="9" name="Text 5"/>
          <p:cNvSpPr/>
          <p:nvPr/>
        </p:nvSpPr>
        <p:spPr>
          <a:xfrm>
            <a:off x="657225" y="3730935"/>
            <a:ext cx="1995729" cy="110728"/>
          </a:xfrm>
          <a:prstGeom prst="rect">
            <a:avLst/>
          </a:prstGeom>
          <a:noFill/>
          <a:ln/>
        </p:spPr>
        <p:txBody>
          <a:bodyPr wrap="none" lIns="0" tIns="0" rIns="0" bIns="0" rtlCol="0" anchor="t">
            <a:spAutoFit/>
          </a:bodyPr>
          <a:lstStyle/>
          <a:p>
            <a:pPr algn="l" indent="0" marL="0">
              <a:lnSpc>
                <a:spcPct val="108000"/>
              </a:lnSpc>
              <a:buNone/>
            </a:pPr>
            <a:r>
              <a:rPr lang="en-US" sz="750" dirty="0">
                <a:solidFill>
                  <a:srgbClr val="C7D8E0"/>
                </a:solidFill>
                <a:latin typeface="Arial" pitchFamily="34" charset="0"/>
                <a:ea typeface="Arial" pitchFamily="34" charset="-122"/>
                <a:cs typeface="Arial" pitchFamily="34" charset="-120"/>
              </a:rPr>
              <a:t>DNS records and domain renewal stay under</a:t>
            </a:r>
            <a:endParaRPr lang="en-US" sz="750" dirty="0"/>
          </a:p>
        </p:txBody>
      </p:sp>
      <p:sp>
        <p:nvSpPr>
          <p:cNvPr id="10" name="Text 6"/>
          <p:cNvSpPr/>
          <p:nvPr/>
        </p:nvSpPr>
        <p:spPr>
          <a:xfrm>
            <a:off x="657225" y="3865941"/>
            <a:ext cx="550348" cy="110728"/>
          </a:xfrm>
          <a:prstGeom prst="rect">
            <a:avLst/>
          </a:prstGeom>
          <a:noFill/>
          <a:ln/>
        </p:spPr>
        <p:txBody>
          <a:bodyPr wrap="none" lIns="0" tIns="0" rIns="0" bIns="0" rtlCol="0" anchor="t">
            <a:spAutoFit/>
          </a:bodyPr>
          <a:lstStyle/>
          <a:p>
            <a:pPr algn="l" indent="0" marL="0">
              <a:lnSpc>
                <a:spcPct val="108000"/>
              </a:lnSpc>
              <a:buNone/>
            </a:pPr>
            <a:r>
              <a:rPr lang="en-US" sz="750" dirty="0">
                <a:solidFill>
                  <a:srgbClr val="C7D8E0"/>
                </a:solidFill>
                <a:latin typeface="Arial" pitchFamily="34" charset="0"/>
                <a:ea typeface="Arial" pitchFamily="34" charset="-122"/>
                <a:cs typeface="Arial" pitchFamily="34" charset="-120"/>
              </a:rPr>
              <a:t>your control.</a:t>
            </a:r>
            <a:endParaRPr lang="en-US" sz="750" dirty="0"/>
          </a:p>
        </p:txBody>
      </p:sp>
      <p:sp>
        <p:nvSpPr>
          <p:cNvPr id="11" name="Text 7"/>
          <p:cNvSpPr/>
          <p:nvPr/>
        </p:nvSpPr>
        <p:spPr>
          <a:xfrm>
            <a:off x="3183210" y="3539840"/>
            <a:ext cx="2211716" cy="144661"/>
          </a:xfrm>
          <a:prstGeom prst="rect">
            <a:avLst/>
          </a:prstGeom>
          <a:noFill/>
          <a:ln/>
        </p:spPr>
        <p:txBody>
          <a:bodyPr wrap="none" lIns="0" tIns="0" rIns="0" bIns="0" rtlCol="0" anchor="t">
            <a:spAutoFit/>
          </a:bodyPr>
          <a:lstStyle/>
          <a:p>
            <a:pPr algn="l" indent="0" marL="0">
              <a:lnSpc>
                <a:spcPct val="108000"/>
              </a:lnSpc>
              <a:buNone/>
            </a:pPr>
            <a:r>
              <a:rPr lang="en-US" sz="750" b="1" dirty="0">
                <a:solidFill>
                  <a:srgbClr val="F7F3ED"/>
                </a:solidFill>
                <a:latin typeface="Arial" pitchFamily="34" charset="0"/>
                <a:ea typeface="Arial" pitchFamily="34" charset="-122"/>
                <a:cs typeface="Arial" pitchFamily="34" charset="-120"/>
              </a:rPr>
              <a:t>GITHUB PAGES</a:t>
            </a:r>
            <a:endParaRPr lang="en-US" sz="750" dirty="0"/>
          </a:p>
        </p:txBody>
      </p:sp>
      <p:sp>
        <p:nvSpPr>
          <p:cNvPr id="12" name="Text 8"/>
          <p:cNvSpPr/>
          <p:nvPr/>
        </p:nvSpPr>
        <p:spPr>
          <a:xfrm>
            <a:off x="3183210" y="3730935"/>
            <a:ext cx="2078999" cy="110728"/>
          </a:xfrm>
          <a:prstGeom prst="rect">
            <a:avLst/>
          </a:prstGeom>
          <a:noFill/>
          <a:ln/>
        </p:spPr>
        <p:txBody>
          <a:bodyPr wrap="none" lIns="0" tIns="0" rIns="0" bIns="0" rtlCol="0" anchor="t">
            <a:spAutoFit/>
          </a:bodyPr>
          <a:lstStyle/>
          <a:p>
            <a:pPr algn="l" indent="0" marL="0">
              <a:lnSpc>
                <a:spcPct val="108000"/>
              </a:lnSpc>
              <a:buNone/>
            </a:pPr>
            <a:r>
              <a:rPr lang="en-US" sz="750" dirty="0">
                <a:solidFill>
                  <a:srgbClr val="C7D8E0"/>
                </a:solidFill>
                <a:latin typeface="Arial" pitchFamily="34" charset="0"/>
                <a:ea typeface="Arial" pitchFamily="34" charset="-122"/>
                <a:cs typeface="Arial" pitchFamily="34" charset="-120"/>
              </a:rPr>
              <a:t>Deployments, redirects, and certificate renewal</a:t>
            </a:r>
            <a:endParaRPr lang="en-US" sz="750" dirty="0"/>
          </a:p>
        </p:txBody>
      </p:sp>
      <p:sp>
        <p:nvSpPr>
          <p:cNvPr id="13" name="Text 9"/>
          <p:cNvSpPr/>
          <p:nvPr/>
        </p:nvSpPr>
        <p:spPr>
          <a:xfrm>
            <a:off x="3183210" y="3865941"/>
            <a:ext cx="1026468" cy="110728"/>
          </a:xfrm>
          <a:prstGeom prst="rect">
            <a:avLst/>
          </a:prstGeom>
          <a:noFill/>
          <a:ln/>
        </p:spPr>
        <p:txBody>
          <a:bodyPr wrap="none" lIns="0" tIns="0" rIns="0" bIns="0" rtlCol="0" anchor="t">
            <a:spAutoFit/>
          </a:bodyPr>
          <a:lstStyle/>
          <a:p>
            <a:pPr algn="l" indent="0" marL="0">
              <a:lnSpc>
                <a:spcPct val="108000"/>
              </a:lnSpc>
              <a:buNone/>
            </a:pPr>
            <a:r>
              <a:rPr lang="en-US" sz="750" dirty="0">
                <a:solidFill>
                  <a:srgbClr val="C7D8E0"/>
                </a:solidFill>
                <a:latin typeface="Arial" pitchFamily="34" charset="0"/>
                <a:ea typeface="Arial" pitchFamily="34" charset="-122"/>
                <a:cs typeface="Arial" pitchFamily="34" charset="-120"/>
              </a:rPr>
              <a:t>run from the repository.</a:t>
            </a:r>
            <a:endParaRPr lang="en-US" sz="750" dirty="0"/>
          </a:p>
        </p:txBody>
      </p:sp>
      <p:sp>
        <p:nvSpPr>
          <p:cNvPr id="14" name="Text 10"/>
          <p:cNvSpPr/>
          <p:nvPr/>
        </p:nvSpPr>
        <p:spPr>
          <a:xfrm>
            <a:off x="657225" y="4147393"/>
            <a:ext cx="4737702" cy="100013"/>
          </a:xfrm>
          <a:prstGeom prst="rect">
            <a:avLst/>
          </a:prstGeom>
          <a:noFill/>
          <a:ln/>
        </p:spPr>
        <p:txBody>
          <a:bodyPr wrap="square" lIns="0" tIns="0" rIns="0" bIns="0" rtlCol="0" anchor="t">
            <a:spAutoFit/>
          </a:bodyPr>
          <a:lstStyle/>
          <a:p>
            <a:pPr algn="l" indent="0" marL="0">
              <a:buNone/>
            </a:pPr>
            <a:r>
              <a:rPr lang="en-US" sz="600" b="1" spc="1" kern="0" dirty="0">
                <a:solidFill>
                  <a:srgbClr val="D6E2E9">
                    <a:alpha val="58000"/>
                  </a:srgbClr>
                </a:solidFill>
                <a:latin typeface="Arial" pitchFamily="34" charset="0"/>
                <a:ea typeface="Arial" pitchFamily="34" charset="-122"/>
                <a:cs typeface="Arial" pitchFamily="34" charset="-120"/>
              </a:rPr>
              <a:t>NEVERSUS · CUSTOM DOMAIN CONFIGURATION COMPLETE</a:t>
            </a:r>
            <a:endParaRPr lang="en-US" sz="600" dirty="0"/>
          </a:p>
        </p:txBody>
      </p:sp>
      <p:sp>
        <p:nvSpPr>
          <p:cNvPr id="15" name="Shape 11"/>
          <p:cNvSpPr/>
          <p:nvPr/>
        </p:nvSpPr>
        <p:spPr>
          <a:xfrm>
            <a:off x="6340748" y="1878806"/>
            <a:ext cx="1857375" cy="1857375"/>
          </a:xfrm>
          <a:prstGeom prst="ellipse">
            <a:avLst/>
          </a:prstGeom>
          <a:solidFill>
            <a:srgbClr val="F77F00"/>
          </a:solidFill>
          <a:ln/>
        </p:spPr>
      </p:sp>
      <p:sp>
        <p:nvSpPr>
          <p:cNvPr id="16" name="Shape 12"/>
          <p:cNvSpPr/>
          <p:nvPr/>
        </p:nvSpPr>
        <p:spPr>
          <a:xfrm>
            <a:off x="6697935" y="2235994"/>
            <a:ext cx="1143000" cy="1143000"/>
          </a:xfrm>
          <a:prstGeom prst="ellipse">
            <a:avLst/>
          </a:prstGeom>
          <a:solidFill>
            <a:srgbClr val="D6E2E9"/>
          </a:solidFill>
          <a:ln/>
        </p:spPr>
      </p:sp>
      <p:sp>
        <p:nvSpPr>
          <p:cNvPr id="17" name="Text 13"/>
          <p:cNvSpPr/>
          <p:nvPr/>
        </p:nvSpPr>
        <p:spPr>
          <a:xfrm>
            <a:off x="6408279" y="2718755"/>
            <a:ext cx="339496" cy="177422"/>
          </a:xfrm>
          <a:prstGeom prst="rect">
            <a:avLst/>
          </a:prstGeom>
          <a:noFill/>
          <a:ln/>
        </p:spPr>
        <p:txBody>
          <a:bodyPr wrap="none" lIns="0" tIns="0" rIns="0" bIns="0" rtlCol="0" anchor="t">
            <a:spAutoFit/>
          </a:bodyPr>
          <a:lstStyle/>
          <a:p>
            <a:pPr algn="ctr" indent="0" marL="0">
              <a:lnSpc>
                <a:spcPct val="86400"/>
              </a:lnSpc>
              <a:buNone/>
            </a:pPr>
            <a:r>
              <a:rPr lang="en-US" sz="1150" b="1" spc="-1" kern="0" dirty="0">
                <a:solidFill>
                  <a:srgbClr val="003049"/>
                </a:solidFill>
                <a:latin typeface="Arial" pitchFamily="34" charset="0"/>
                <a:ea typeface="Arial" pitchFamily="34" charset="-122"/>
                <a:cs typeface="Arial" pitchFamily="34" charset="-120"/>
              </a:rPr>
              <a:t>LIVE</a:t>
            </a:r>
            <a:endParaRPr lang="en-US" sz="1150" dirty="0"/>
          </a:p>
        </p:txBody>
      </p:sp>
      <p:sp>
        <p:nvSpPr>
          <p:cNvPr id="18" name="Text 14"/>
          <p:cNvSpPr/>
          <p:nvPr/>
        </p:nvSpPr>
        <p:spPr>
          <a:xfrm>
            <a:off x="6747774" y="2718755"/>
            <a:ext cx="233623" cy="177422"/>
          </a:xfrm>
          <a:prstGeom prst="rect">
            <a:avLst/>
          </a:prstGeom>
          <a:noFill/>
          <a:ln/>
        </p:spPr>
        <p:txBody>
          <a:bodyPr wrap="none" lIns="0" tIns="0" rIns="0" bIns="0" rtlCol="0" anchor="t">
            <a:spAutoFit/>
          </a:bodyPr>
          <a:lstStyle/>
          <a:p>
            <a:pPr algn="ctr" indent="0" marL="0">
              <a:lnSpc>
                <a:spcPct val="86400"/>
              </a:lnSpc>
              <a:buNone/>
            </a:pPr>
            <a:r>
              <a:rPr lang="en-US" sz="1150" b="1" spc="-1" kern="0" dirty="0">
                <a:solidFill>
                  <a:srgbClr val="003049"/>
                </a:solidFill>
                <a:latin typeface="Arial" pitchFamily="34" charset="0"/>
                <a:ea typeface="Arial" pitchFamily="34" charset="-122"/>
                <a:cs typeface="Arial" pitchFamily="34" charset="-120"/>
              </a:rPr>
              <a:t>ON</a:t>
            </a:r>
            <a:endParaRPr lang="en-US" sz="1150" dirty="0"/>
          </a:p>
        </p:txBody>
      </p:sp>
      <p:sp>
        <p:nvSpPr>
          <p:cNvPr id="19" name="Text 15"/>
          <p:cNvSpPr/>
          <p:nvPr/>
        </p:nvSpPr>
        <p:spPr>
          <a:xfrm>
            <a:off x="6981397" y="2718755"/>
            <a:ext cx="1149251" cy="177422"/>
          </a:xfrm>
          <a:prstGeom prst="rect">
            <a:avLst/>
          </a:prstGeom>
          <a:noFill/>
          <a:ln/>
        </p:spPr>
        <p:txBody>
          <a:bodyPr wrap="none" lIns="0" tIns="0" rIns="0" bIns="0" rtlCol="0" anchor="t">
            <a:spAutoFit/>
          </a:bodyPr>
          <a:lstStyle/>
          <a:p>
            <a:pPr algn="ctr" indent="0" marL="0">
              <a:lnSpc>
                <a:spcPct val="86400"/>
              </a:lnSpc>
              <a:buNone/>
            </a:pPr>
            <a:r>
              <a:rPr lang="en-US" sz="1150" b="1" spc="-1" kern="0" dirty="0">
                <a:solidFill>
                  <a:srgbClr val="003049"/>
                </a:solidFill>
                <a:latin typeface="Arial" pitchFamily="34" charset="0"/>
                <a:ea typeface="Arial" pitchFamily="34" charset="-122"/>
                <a:cs typeface="Arial" pitchFamily="34" charset="-120"/>
              </a:rPr>
              <a:t>STACKWRIGHT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2026-08-21T09:05:51Z</dcterms:created>
  <dcterms:modified xsi:type="dcterms:W3CDTF">2026-08-21T09:05:51Z</dcterms:modified>
</cp:coreProperties>
</file>